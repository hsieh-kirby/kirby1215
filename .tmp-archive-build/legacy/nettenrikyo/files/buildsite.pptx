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666E03A-CAD7-4E36-9E0C-712A336429E5}" type="datetimeFigureOut">
              <a:rPr kumimoji="1" lang="ja-JP" altLang="en-US" smtClean="0"/>
              <a:t>2015/9/18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9DB6855C-4497-4811-B808-100A5103C0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kumimoji="1"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kumimoji="1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kumimoji="1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ja-JP" b="1" dirty="0"/>
              <a:t>網頁上傳基本原理</a:t>
            </a:r>
            <a:r>
              <a:rPr lang="ja-JP" altLang="ja-JP" dirty="0"/>
              <a:t/>
            </a:r>
            <a:br>
              <a:rPr lang="ja-JP" altLang="ja-JP" dirty="0"/>
            </a:b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43808" y="393305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 smtClean="0"/>
              <a:t>謝匡宇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840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Kuang Yu\Desktop\無題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4784"/>
            <a:ext cx="761047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ja-JP" b="1" dirty="0"/>
              <a:t>一</a:t>
            </a:r>
            <a:r>
              <a:rPr lang="en-US" altLang="ja-JP" b="1" dirty="0"/>
              <a:t>.</a:t>
            </a:r>
            <a:r>
              <a:rPr lang="zh-TW" altLang="ja-JP" b="1" dirty="0"/>
              <a:t>基本概念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15616" y="4509120"/>
            <a:ext cx="7272808" cy="129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上圖為發佈文章、影片等資訊到網路上供人閱覽的基本流程</a:t>
            </a:r>
            <a:r>
              <a:rPr lang="zh-TW" altLang="en-US" dirty="0" smtClean="0"/>
              <a:t>。上傳者</a:t>
            </a:r>
            <a:r>
              <a:rPr lang="en-US" altLang="zh-TW" dirty="0"/>
              <a:t>(</a:t>
            </a:r>
            <a:r>
              <a:rPr lang="zh-TW" altLang="en-US" dirty="0"/>
              <a:t>傳道廳、教會、佈教所等</a:t>
            </a:r>
            <a:r>
              <a:rPr lang="en-US" altLang="zh-TW" dirty="0"/>
              <a:t>)</a:t>
            </a:r>
            <a:r>
              <a:rPr lang="zh-TW" altLang="en-US" dirty="0"/>
              <a:t>將內容上傳至向業者租用的網路空間，使用者即可利用電腦或智慧型手機等介面讀取。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7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855365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400" dirty="0"/>
              <a:t>Ａ</a:t>
            </a:r>
            <a:r>
              <a:rPr lang="zh-TW" altLang="en-US" sz="2400" dirty="0" smtClean="0"/>
              <a:t>：</a:t>
            </a:r>
            <a:endParaRPr lang="en-US" altLang="zh-TW" sz="2400" dirty="0" smtClean="0"/>
          </a:p>
          <a:p>
            <a:r>
              <a:rPr lang="zh-TW" altLang="en-US" sz="2400" dirty="0" smtClean="0"/>
              <a:t>過去由於</a:t>
            </a:r>
            <a:r>
              <a:rPr lang="zh-TW" altLang="en-US" sz="2400" dirty="0"/>
              <a:t>租用網路空間尚不普及，</a:t>
            </a:r>
            <a:r>
              <a:rPr lang="zh-TW" altLang="en-US" sz="2400" dirty="0" smtClean="0"/>
              <a:t>租用成本較高。欲</a:t>
            </a:r>
            <a:r>
              <a:rPr lang="zh-TW" altLang="en-US" sz="2400" dirty="0"/>
              <a:t>自行架設網站者往往需自行在家中「架站」，也就是說，必須將電腦２４小時開機保持網路暢通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r>
              <a:rPr lang="zh-TW" altLang="en-US" sz="2400" dirty="0" smtClean="0"/>
              <a:t>近年來自行製作網頁已相當</a:t>
            </a:r>
            <a:r>
              <a:rPr lang="zh-TW" altLang="en-US" sz="2400" dirty="0"/>
              <a:t>普及</a:t>
            </a:r>
            <a:r>
              <a:rPr lang="zh-TW" altLang="en-US" sz="2400" dirty="0" smtClean="0"/>
              <a:t>，業者也提供價格低廉的網路空間，</a:t>
            </a:r>
            <a:r>
              <a:rPr lang="zh-TW" altLang="en-US" sz="2400" dirty="0"/>
              <a:t>因此不必使用家中的電腦「架站</a:t>
            </a:r>
            <a:r>
              <a:rPr lang="zh-TW" altLang="en-US" sz="2400" dirty="0" smtClean="0"/>
              <a:t>」。</a:t>
            </a:r>
            <a:r>
              <a:rPr lang="zh-TW" altLang="en-US" sz="2400" dirty="0"/>
              <a:t>以目前傳道廳網頁的網路空間為例，一年只需台幣１０００元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r>
              <a:rPr lang="zh-TW" altLang="en-US" sz="2400" dirty="0" smtClean="0"/>
              <a:t>只要學會</a:t>
            </a:r>
            <a:r>
              <a:rPr lang="zh-TW" altLang="en-US" sz="2400" dirty="0"/>
              <a:t>如何上傳，</a:t>
            </a:r>
            <a:r>
              <a:rPr lang="zh-TW" altLang="en-US" sz="2400" dirty="0" smtClean="0"/>
              <a:t>任何人都可以成為網頁管理者，</a:t>
            </a:r>
            <a:r>
              <a:rPr lang="zh-TW" altLang="en-US" sz="2400" dirty="0"/>
              <a:t>並且由業者負責維護網路品質，不必再擔心颱風、停電等問題。</a:t>
            </a:r>
            <a:endParaRPr kumimoji="1" lang="ja-JP" altLang="en-US" sz="24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Q</a:t>
            </a:r>
            <a:r>
              <a:rPr lang="zh-TW" altLang="en-US" dirty="0"/>
              <a:t>：為何過去需要在家中「架站」，現在不需要？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550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自行製作網頁首先碰到的問題是：</a:t>
            </a:r>
            <a:r>
              <a:rPr lang="zh-TW" altLang="en-US" dirty="0">
                <a:solidFill>
                  <a:srgbClr val="FF0000"/>
                </a:solidFill>
              </a:rPr>
              <a:t>怎麼寫程式</a:t>
            </a:r>
            <a:r>
              <a:rPr lang="zh-TW" altLang="en-US" dirty="0"/>
              <a:t>？</a:t>
            </a:r>
          </a:p>
          <a:p>
            <a:r>
              <a:rPr lang="zh-TW" altLang="en-US" dirty="0" smtClean="0"/>
              <a:t>編寫網頁的</a:t>
            </a:r>
            <a:r>
              <a:rPr lang="zh-TW" altLang="en-US" dirty="0"/>
              <a:t>軟體</a:t>
            </a:r>
            <a:r>
              <a:rPr lang="zh-TW" altLang="en-US" dirty="0" smtClean="0"/>
              <a:t>有</a:t>
            </a:r>
            <a:r>
              <a:rPr lang="zh-TW" altLang="en-US" dirty="0"/>
              <a:t>好幾種，各有各的長處及短處</a:t>
            </a:r>
            <a:r>
              <a:rPr lang="zh-TW" altLang="en-US" dirty="0" smtClean="0"/>
              <a:t>。如果只是想將手邊</a:t>
            </a:r>
            <a:r>
              <a:rPr lang="zh-TW" altLang="en-US" dirty="0"/>
              <a:t>的資料</a:t>
            </a:r>
            <a:r>
              <a:rPr lang="en-US" altLang="zh-TW" dirty="0"/>
              <a:t>(</a:t>
            </a:r>
            <a:r>
              <a:rPr lang="zh-TW" altLang="en-US" dirty="0"/>
              <a:t>文章、圖片等</a:t>
            </a:r>
            <a:r>
              <a:rPr lang="en-US" altLang="zh-TW" dirty="0"/>
              <a:t>)</a:t>
            </a:r>
            <a:r>
              <a:rPr lang="zh-TW" altLang="en-US" dirty="0"/>
              <a:t>上傳到既有的網頁上供使用者閱覽的話，那麼可以先不用理會版面設計的問題，僅需就現有的網頁圖樣做簡單的修改即可。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這裡以上傳一篇文章到既有的網路空間為例做說</a:t>
            </a:r>
            <a:r>
              <a:rPr lang="zh-TW" altLang="en-US" dirty="0"/>
              <a:t>明。</a:t>
            </a:r>
          </a:p>
          <a:p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ja-JP" b="1" dirty="0"/>
              <a:t>二</a:t>
            </a:r>
            <a:r>
              <a:rPr lang="en-US" altLang="ja-JP" b="1" dirty="0"/>
              <a:t>.</a:t>
            </a:r>
            <a:r>
              <a:rPr lang="zh-TW" altLang="ja-JP" b="1" dirty="0" smtClean="0"/>
              <a:t>實作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974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將已完成編輯的網頁資料夾複製入電腦</a:t>
            </a:r>
            <a:r>
              <a:rPr lang="zh-TW" altLang="en-US" dirty="0"/>
              <a:t>。本範例以「天理教教理學習平台」資料夾</a:t>
            </a:r>
            <a:r>
              <a:rPr lang="en-US" altLang="zh-TW" dirty="0"/>
              <a:t>2015</a:t>
            </a:r>
            <a:r>
              <a:rPr lang="zh-TW" altLang="en-US" dirty="0"/>
              <a:t>年</a:t>
            </a:r>
            <a:r>
              <a:rPr lang="en-US" altLang="zh-TW" dirty="0"/>
              <a:t>8</a:t>
            </a:r>
            <a:r>
              <a:rPr lang="zh-TW" altLang="en-US" dirty="0"/>
              <a:t>月</a:t>
            </a:r>
            <a:r>
              <a:rPr lang="en-US" altLang="zh-TW" dirty="0"/>
              <a:t>5</a:t>
            </a:r>
            <a:r>
              <a:rPr lang="zh-TW" altLang="en-US" dirty="0"/>
              <a:t>日</a:t>
            </a:r>
            <a:r>
              <a:rPr lang="zh-TW" altLang="en-US" dirty="0" smtClean="0"/>
              <a:t>的內容為例。先將此資料夾複雜</a:t>
            </a:r>
            <a:r>
              <a:rPr lang="zh-TW" altLang="en-US" dirty="0"/>
              <a:t>到</a:t>
            </a:r>
            <a:r>
              <a:rPr lang="en-US" altLang="zh-TW" dirty="0"/>
              <a:t>D</a:t>
            </a:r>
            <a:r>
              <a:rPr lang="zh-TW" altLang="en-US" dirty="0"/>
              <a:t>糟</a:t>
            </a:r>
            <a:r>
              <a:rPr lang="en-US" altLang="zh-TW" dirty="0"/>
              <a:t>(</a:t>
            </a:r>
            <a:r>
              <a:rPr lang="zh-TW" altLang="en-US" dirty="0"/>
              <a:t>資料夾名稱：</a:t>
            </a:r>
            <a:r>
              <a:rPr lang="en-US" altLang="zh-TW" dirty="0" err="1">
                <a:solidFill>
                  <a:srgbClr val="FF0000"/>
                </a:solidFill>
              </a:rPr>
              <a:t>nettenrikyo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zh-TW" altLang="en-US" dirty="0" smtClean="0"/>
              <a:t>步驟</a:t>
            </a:r>
            <a:r>
              <a:rPr kumimoji="1" lang="en-US" altLang="zh-TW" dirty="0" smtClean="0"/>
              <a:t>1</a:t>
            </a:r>
            <a:r>
              <a:rPr kumimoji="1" lang="zh-TW" altLang="en-US" dirty="0" smtClean="0"/>
              <a:t>：複製資料夾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709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 descr="C:\Users\Kuang Yu\Desktop\無題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64518"/>
            <a:ext cx="7543800" cy="52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zh-TW" altLang="en-US" dirty="0" smtClean="0"/>
              <a:t>步驟</a:t>
            </a:r>
            <a:r>
              <a:rPr kumimoji="1" lang="en-US" altLang="zh-TW" dirty="0" smtClean="0"/>
              <a:t>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523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sz="3100" dirty="0"/>
              <a:t>首先將文章準備好。用平常習慣的編輯器，如</a:t>
            </a:r>
            <a:r>
              <a:rPr lang="en-US" altLang="zh-TW" sz="3100" dirty="0"/>
              <a:t>word</a:t>
            </a:r>
            <a:r>
              <a:rPr lang="zh-TW" altLang="en-US" sz="3100" dirty="0"/>
              <a:t>即可。範例如下</a:t>
            </a:r>
            <a:r>
              <a:rPr lang="en-US" altLang="zh-TW" sz="3100" dirty="0"/>
              <a:t>(</a:t>
            </a:r>
            <a:r>
              <a:rPr lang="zh-TW" altLang="en-US" sz="3100" dirty="0"/>
              <a:t>檔案名稱為</a:t>
            </a:r>
            <a:r>
              <a:rPr lang="en-US" altLang="zh-TW" sz="3100" dirty="0" smtClean="0"/>
              <a:t>file01.docx</a:t>
            </a:r>
            <a:r>
              <a:rPr lang="en-US" altLang="zh-TW" sz="3100" dirty="0"/>
              <a:t>)</a:t>
            </a:r>
            <a:r>
              <a:rPr lang="zh-TW" altLang="en-US" sz="3100" dirty="0" smtClean="0"/>
              <a:t>：</a:t>
            </a:r>
            <a:endParaRPr lang="en-US" altLang="zh-TW" sz="3100" dirty="0" smtClean="0"/>
          </a:p>
          <a:p>
            <a:pPr marL="0" indent="0">
              <a:buNone/>
            </a:pPr>
            <a:r>
              <a:rPr lang="zh-TW" altLang="en-US" sz="2800" dirty="0">
                <a:solidFill>
                  <a:srgbClr val="00B0F0"/>
                </a:solidFill>
              </a:rPr>
              <a:t>　　</a:t>
            </a:r>
            <a:r>
              <a:rPr lang="zh-TW" altLang="en-US" sz="2300" dirty="0">
                <a:solidFill>
                  <a:srgbClr val="00B0F0"/>
                </a:solidFill>
              </a:rPr>
              <a:t>我是來自台灣的天理教信者，在大約</a:t>
            </a:r>
            <a:r>
              <a:rPr lang="en-US" altLang="zh-TW" sz="2300" dirty="0">
                <a:solidFill>
                  <a:srgbClr val="00B0F0"/>
                </a:solidFill>
              </a:rPr>
              <a:t>5</a:t>
            </a:r>
            <a:r>
              <a:rPr lang="zh-TW" altLang="en-US" sz="2300" dirty="0">
                <a:solidFill>
                  <a:srgbClr val="00B0F0"/>
                </a:solidFill>
              </a:rPr>
              <a:t>年前接觸了這個宗教，一開始由於工作及身體上不是很穩定的情形下，在偶然的一次廟宇祈福機緣中結識了台灣正心教會的王先生，在他的引薦下，除了懷著好奇心，也想了解這個宗教對我人生的旅途上能否有所助益。</a:t>
            </a:r>
          </a:p>
          <a:p>
            <a:pPr marL="0" indent="0">
              <a:buNone/>
            </a:pPr>
            <a:r>
              <a:rPr lang="zh-TW" altLang="en-US" sz="2300" dirty="0">
                <a:solidFill>
                  <a:srgbClr val="00B0F0"/>
                </a:solidFill>
              </a:rPr>
              <a:t>　　隨著時間一天一天的經過，慢慢地體悟了這個宗教跟在台灣多元化的宗教有所差異，尤其個人在這段期間有兩次嚴重胃潰瘍的情形，醫院裡一個多星期的治療都毫無效果，卻在教會會長及會長夫人的「神授之理」下，不到一小時竟然就慢慢地不痛了。</a:t>
            </a:r>
          </a:p>
          <a:p>
            <a:pPr marL="0" indent="0">
              <a:buNone/>
            </a:pPr>
            <a:r>
              <a:rPr lang="zh-TW" altLang="en-US" sz="2300" dirty="0">
                <a:solidFill>
                  <a:srgbClr val="00B0F0"/>
                </a:solidFill>
              </a:rPr>
              <a:t>　　有了這樣明確的「神引」，我的生活隨著接觸天理教的三原典（御筆先、教祖傳、御指圖）後，開啟了我在人生道路上明確的信仰</a:t>
            </a:r>
            <a:r>
              <a:rPr lang="zh-TW" altLang="en-US" sz="2300" dirty="0" smtClean="0">
                <a:solidFill>
                  <a:srgbClr val="00B0F0"/>
                </a:solidFill>
              </a:rPr>
              <a:t>。</a:t>
            </a:r>
            <a:endParaRPr kumimoji="1" lang="ja-JP" altLang="en-US" sz="2300" dirty="0">
              <a:solidFill>
                <a:srgbClr val="00B0F0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/>
              <a:t>步驟</a:t>
            </a:r>
            <a:r>
              <a:rPr lang="en-US" altLang="zh-TW" dirty="0" smtClean="0"/>
              <a:t>2</a:t>
            </a:r>
            <a:r>
              <a:rPr lang="zh-TW" altLang="en-US" dirty="0" smtClean="0"/>
              <a:t>：準備好要發佈的文章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0697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ja-JP" sz="2400" dirty="0"/>
              <a:t>以及一張名為</a:t>
            </a:r>
            <a:r>
              <a:rPr lang="en-US" altLang="ja-JP" sz="2400" dirty="0"/>
              <a:t>DSC_4888.jpg</a:t>
            </a:r>
            <a:r>
              <a:rPr lang="zh-TW" altLang="ja-JP" sz="2400" dirty="0"/>
              <a:t>的照片</a:t>
            </a:r>
            <a:r>
              <a:rPr lang="zh-TW" altLang="ja-JP" sz="2400" dirty="0" smtClean="0"/>
              <a:t>：</a:t>
            </a:r>
            <a:endParaRPr lang="en-US" altLang="zh-TW" sz="2400" dirty="0" smtClean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ja-JP" altLang="ja-JP" sz="2400" dirty="0"/>
          </a:p>
          <a:p>
            <a:pPr marL="0" indent="0">
              <a:buNone/>
            </a:pPr>
            <a:endParaRPr kumimoji="1" lang="ja-JP" altLang="en-US" sz="2300" dirty="0">
              <a:solidFill>
                <a:srgbClr val="00B0F0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/>
              <a:t>步驟</a:t>
            </a:r>
            <a:r>
              <a:rPr lang="en-US" altLang="zh-TW" dirty="0" smtClean="0"/>
              <a:t>2</a:t>
            </a:r>
            <a:r>
              <a:rPr lang="zh-TW" altLang="en-US" dirty="0" smtClean="0"/>
              <a:t>：準備好要發佈的文章</a:t>
            </a:r>
            <a:endParaRPr kumimoji="1" lang="ja-JP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348880"/>
            <a:ext cx="1536700" cy="1017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689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32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ja-JP" sz="2400" dirty="0" smtClean="0"/>
              <a:t>分別</a:t>
            </a:r>
            <a:r>
              <a:rPr lang="zh-TW" altLang="en-US" sz="2400" dirty="0" smtClean="0"/>
              <a:t>將</a:t>
            </a:r>
            <a:r>
              <a:rPr lang="en-US" altLang="zh-TW" sz="2400" dirty="0" smtClean="0"/>
              <a:t>2</a:t>
            </a:r>
            <a:r>
              <a:rPr lang="zh-TW" altLang="en-US" sz="2400" dirty="0" smtClean="0"/>
              <a:t>個檔案</a:t>
            </a:r>
            <a:r>
              <a:rPr lang="zh-TW" altLang="ja-JP" sz="2400" dirty="0" smtClean="0"/>
              <a:t>存放於桌面</a:t>
            </a:r>
            <a:r>
              <a:rPr lang="zh-TW" altLang="ja-JP" sz="2400" dirty="0"/>
              <a:t>。</a:t>
            </a:r>
            <a:endParaRPr lang="ja-JP" altLang="ja-JP" sz="2400" dirty="0"/>
          </a:p>
          <a:p>
            <a:pPr marL="0" indent="0">
              <a:buNone/>
            </a:pPr>
            <a:endParaRPr kumimoji="1" lang="ja-JP" altLang="en-US" sz="2300" dirty="0">
              <a:solidFill>
                <a:srgbClr val="00B0F0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/>
              <a:t>步驟</a:t>
            </a:r>
            <a:r>
              <a:rPr lang="en-US" altLang="zh-TW" dirty="0" smtClean="0"/>
              <a:t>2</a:t>
            </a:r>
            <a:r>
              <a:rPr lang="zh-TW" altLang="en-US" dirty="0" smtClean="0"/>
              <a:t>：準備好要發佈的文章</a:t>
            </a:r>
            <a:endParaRPr kumimoji="1" lang="ja-JP" altLang="en-US" dirty="0"/>
          </a:p>
        </p:txBody>
      </p:sp>
      <p:pic>
        <p:nvPicPr>
          <p:cNvPr id="9" name="図 8" descr="C:\Users\Kuang Yu\Desktop\無題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128" y="2060848"/>
            <a:ext cx="5791200" cy="4633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100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64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 smtClean="0"/>
              <a:t>決定文章欲放置的地方。以放在「文章列表」裡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首頁→文章→文章列表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為例。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資料夾</a:t>
            </a:r>
            <a:r>
              <a:rPr lang="en-US" altLang="zh-TW" sz="2400" dirty="0" smtClean="0"/>
              <a:t>article</a:t>
            </a:r>
            <a:r>
              <a:rPr lang="zh-TW" altLang="en-US" sz="2400" dirty="0" smtClean="0"/>
              <a:t>裡</a:t>
            </a:r>
            <a:r>
              <a:rPr lang="en-US" altLang="zh-TW" sz="2400" dirty="0" smtClean="0"/>
              <a:t>article-list.html</a:t>
            </a:r>
            <a:r>
              <a:rPr lang="zh-TW" altLang="en-US" sz="2400" dirty="0" smtClean="0"/>
              <a:t>的檔案</a:t>
            </a:r>
            <a:r>
              <a:rPr lang="en-US" altLang="zh-TW" sz="2400" dirty="0" smtClean="0"/>
              <a:t>)</a:t>
            </a:r>
            <a:endParaRPr kumimoji="1" lang="ja-JP" altLang="en-US" sz="2300" dirty="0">
              <a:solidFill>
                <a:srgbClr val="00B0F0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3600" dirty="0" smtClean="0"/>
              <a:t>步驟</a:t>
            </a:r>
            <a:r>
              <a:rPr lang="en-US" altLang="zh-TW" sz="3600" dirty="0" smtClean="0"/>
              <a:t>3</a:t>
            </a:r>
            <a:r>
              <a:rPr lang="zh-TW" altLang="en-US" sz="3600" dirty="0" smtClean="0"/>
              <a:t>：決定文章在網頁資料夾中存放處</a:t>
            </a:r>
            <a:endParaRPr kumimoji="1" lang="ja-JP" altLang="en-US" sz="3600" dirty="0"/>
          </a:p>
        </p:txBody>
      </p:sp>
      <p:pic>
        <p:nvPicPr>
          <p:cNvPr id="7" name="図 6" descr="C:\Users\Kuang Yu\Desktop\無題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64904"/>
            <a:ext cx="5181600" cy="41471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089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Dreamweaver</a:t>
            </a:r>
            <a:r>
              <a:rPr lang="zh-TW" altLang="en-US" dirty="0"/>
              <a:t>是相當普遍被使用的網頁編輯軟體，</a:t>
            </a:r>
            <a:r>
              <a:rPr lang="zh-TW" altLang="en-US" dirty="0" smtClean="0"/>
              <a:t>就像</a:t>
            </a:r>
            <a:r>
              <a:rPr lang="en-US" altLang="zh-TW" dirty="0" smtClean="0"/>
              <a:t>Word</a:t>
            </a:r>
            <a:r>
              <a:rPr lang="zh-TW" altLang="en-US" dirty="0"/>
              <a:t>是文字編輯器裡的主流一樣</a:t>
            </a:r>
            <a:r>
              <a:rPr lang="zh-TW" altLang="en-US" dirty="0" smtClean="0"/>
              <a:t>，</a:t>
            </a:r>
            <a:r>
              <a:rPr lang="en-US" altLang="zh-TW" dirty="0" smtClean="0"/>
              <a:t>Dreamweaver</a:t>
            </a:r>
            <a:r>
              <a:rPr lang="zh-TW" altLang="en-US" dirty="0"/>
              <a:t>是網頁編輯</a:t>
            </a:r>
            <a:r>
              <a:rPr lang="zh-TW" altLang="en-US" dirty="0" smtClean="0"/>
              <a:t>器的主流軟體之一。</a:t>
            </a:r>
            <a:endParaRPr lang="en-US" altLang="zh-TW" dirty="0" smtClean="0"/>
          </a:p>
          <a:p>
            <a:r>
              <a:rPr lang="en-US" altLang="zh-TW" dirty="0" smtClean="0"/>
              <a:t>Dreamweaver</a:t>
            </a:r>
            <a:r>
              <a:rPr lang="zh-TW" altLang="en-US" dirty="0"/>
              <a:t>的功能強大，這裡僅介紹最基本會運用到的知識。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</a:t>
            </a:r>
            <a:r>
              <a:rPr kumimoji="1" lang="zh-TW" altLang="en-US" sz="3600" dirty="0" smtClean="0"/>
              <a:t>：以</a:t>
            </a:r>
            <a:r>
              <a:rPr kumimoji="1" lang="en-US" altLang="zh-TW" sz="3600" dirty="0" smtClean="0"/>
              <a:t>Dreamweaver</a:t>
            </a:r>
            <a:r>
              <a:rPr kumimoji="1" lang="zh-TW" altLang="en-US" sz="3600" dirty="0" smtClean="0"/>
              <a:t>進行檔案編輯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3372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008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首先我們選出一個文章範例，作為新文章的基礎格式。例如，我們在資料夾</a:t>
            </a:r>
            <a:r>
              <a:rPr lang="en-US" altLang="zh-TW" sz="2000" dirty="0" smtClean="0"/>
              <a:t>article</a:t>
            </a:r>
            <a:r>
              <a:rPr lang="zh-TW" altLang="en-US" sz="2000" dirty="0" smtClean="0"/>
              <a:t>之下的</a:t>
            </a:r>
            <a:r>
              <a:rPr lang="en-US" altLang="zh-TW" sz="2000" dirty="0" smtClean="0"/>
              <a:t>list</a:t>
            </a:r>
            <a:r>
              <a:rPr lang="zh-TW" altLang="en-US" sz="2000" dirty="0" smtClean="0"/>
              <a:t>資料夾裡，將檔案</a:t>
            </a:r>
            <a:r>
              <a:rPr lang="en-US" altLang="zh-TW" sz="2000" dirty="0" smtClean="0"/>
              <a:t>article-times-20150719.html</a:t>
            </a:r>
            <a:r>
              <a:rPr lang="zh-TW" altLang="en-US" sz="2000" dirty="0" smtClean="0"/>
              <a:t>的檔案於同資料夾內複製，</a:t>
            </a:r>
            <a:endParaRPr kumimoji="1" lang="ja-JP" altLang="en-US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4-1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4" name="図 3" descr="C:\Users\Kuang Yu\Desktop\無題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03747"/>
            <a:ext cx="7272808" cy="4865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91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0081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TW" altLang="ja-JP" sz="2000" dirty="0" smtClean="0"/>
              <a:t>將複製檔</a:t>
            </a:r>
            <a:r>
              <a:rPr lang="zh-TW" altLang="ja-JP" sz="2000" dirty="0"/>
              <a:t>的檔名，改成欲新增之文章的檔名</a:t>
            </a:r>
            <a:r>
              <a:rPr lang="en-US" altLang="ja-JP" sz="2000" dirty="0"/>
              <a:t>file01.html</a:t>
            </a:r>
            <a:r>
              <a:rPr lang="zh-TW" altLang="ja-JP" sz="2000" dirty="0"/>
              <a:t>。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4-2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5" name="図 4" descr="C:\Users\Kuang Yu\Desktop\無題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63" y="1338580"/>
            <a:ext cx="7468553" cy="5330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864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TW" altLang="en-US" sz="2000" dirty="0" smtClean="0"/>
              <a:t>將新文章中欲插入的圖片檔案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目前放在桌面的</a:t>
            </a:r>
            <a:r>
              <a:rPr lang="en-US" altLang="zh-TW" sz="2000" dirty="0" smtClean="0"/>
              <a:t>DSC_4888.jpg)</a:t>
            </a:r>
            <a:r>
              <a:rPr lang="zh-TW" altLang="en-US" sz="2000" dirty="0" smtClean="0"/>
              <a:t>複製後，放入同頁面的</a:t>
            </a:r>
            <a:r>
              <a:rPr lang="en-US" altLang="zh-TW" sz="2000" dirty="0" smtClean="0"/>
              <a:t>image</a:t>
            </a:r>
            <a:r>
              <a:rPr lang="zh-TW" altLang="en-US" sz="2000" dirty="0" smtClean="0"/>
              <a:t>資料夾裡。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4-3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64258"/>
            <a:ext cx="7238189" cy="5177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520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692696"/>
            <a:ext cx="8229600" cy="1152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接著以</a:t>
            </a:r>
            <a:r>
              <a:rPr lang="en-US" altLang="zh-TW" sz="2000" dirty="0" err="1" smtClean="0"/>
              <a:t>dreamweaver</a:t>
            </a:r>
            <a:r>
              <a:rPr lang="zh-TW" altLang="en-US" sz="2000" dirty="0" smtClean="0"/>
              <a:t>來開啟目前資料夾中的</a:t>
            </a:r>
            <a:r>
              <a:rPr lang="en-US" altLang="zh-TW" sz="2000" dirty="0" smtClean="0"/>
              <a:t>file01.html</a:t>
            </a:r>
            <a:r>
              <a:rPr lang="zh-TW" altLang="en-US" sz="2000" dirty="0" smtClean="0"/>
              <a:t>檔案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注意</a:t>
            </a:r>
            <a:r>
              <a:rPr lang="en-US" altLang="zh-TW" sz="2000" dirty="0" smtClean="0"/>
              <a:t>:</a:t>
            </a:r>
            <a:r>
              <a:rPr lang="zh-TW" altLang="en-US" sz="2000" dirty="0" smtClean="0"/>
              <a:t>不是桌面上的</a:t>
            </a:r>
            <a:r>
              <a:rPr lang="en-US" altLang="zh-TW" sz="2000" dirty="0" smtClean="0"/>
              <a:t>file01</a:t>
            </a:r>
            <a:r>
              <a:rPr lang="zh-TW" altLang="en-US" sz="2000" dirty="0" smtClean="0"/>
              <a:t>檔案</a:t>
            </a:r>
            <a:r>
              <a:rPr lang="en-US" altLang="zh-TW" sz="2000" dirty="0" smtClean="0"/>
              <a:t>)</a:t>
            </a:r>
            <a:r>
              <a:rPr lang="zh-TW" altLang="en-US" sz="2000" dirty="0" smtClean="0"/>
              <a:t>。開啟後如下圖所示。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這裡使用的版本是「</a:t>
            </a:r>
            <a:r>
              <a:rPr lang="en-US" altLang="zh-TW" sz="2000" dirty="0" smtClean="0"/>
              <a:t>Macromedia Dreamweaver 8</a:t>
            </a:r>
            <a:r>
              <a:rPr lang="zh-TW" altLang="en-US" sz="2000" dirty="0" smtClean="0"/>
              <a:t>」</a:t>
            </a:r>
            <a:r>
              <a:rPr lang="en-US" altLang="zh-TW" sz="2000" dirty="0" smtClean="0"/>
              <a:t>)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4-4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692" y="1844824"/>
            <a:ext cx="6012708" cy="4809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251784" y="4005064"/>
            <a:ext cx="1764156" cy="258532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這個檔案內容是已</a:t>
            </a:r>
            <a:r>
              <a:rPr lang="zh-TW" altLang="en-US" dirty="0"/>
              <a:t>存在的文章「填飽歸者的肚子</a:t>
            </a:r>
            <a:r>
              <a:rPr lang="en-US" altLang="zh-TW" dirty="0"/>
              <a:t>…</a:t>
            </a:r>
            <a:r>
              <a:rPr lang="zh-TW" altLang="en-US" dirty="0"/>
              <a:t>」。由於先前做的動作只是將檔案複製並且改檔名，</a:t>
            </a:r>
            <a:r>
              <a:rPr lang="zh-TW" altLang="en-US" dirty="0" smtClean="0"/>
              <a:t>內容尚未做</a:t>
            </a:r>
            <a:r>
              <a:rPr lang="zh-TW" altLang="en-US" dirty="0"/>
              <a:t>任何的更動。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787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47504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TW" altLang="en-US" sz="2000" dirty="0" smtClean="0"/>
              <a:t>接著我們把內容修改成桌面上</a:t>
            </a:r>
            <a:r>
              <a:rPr lang="en-US" altLang="zh-TW" sz="2000" dirty="0" smtClean="0"/>
              <a:t>file01.docx</a:t>
            </a:r>
            <a:r>
              <a:rPr lang="zh-TW" altLang="en-US" sz="2000" dirty="0" smtClean="0"/>
              <a:t>裡的內容。結果如下：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4-5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239751"/>
            <a:ext cx="6840760" cy="5474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107504" y="2996952"/>
            <a:ext cx="2016224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上面「譯自天理時報</a:t>
            </a:r>
            <a:r>
              <a:rPr lang="en-US" altLang="zh-TW" dirty="0"/>
              <a:t>…</a:t>
            </a:r>
            <a:r>
              <a:rPr lang="zh-TW" altLang="en-US" dirty="0"/>
              <a:t>」的部分，改成「自製傳單」；標題「填飽歸鄉者的肚子</a:t>
            </a:r>
            <a:r>
              <a:rPr lang="en-US" altLang="zh-TW" dirty="0"/>
              <a:t>…</a:t>
            </a:r>
            <a:r>
              <a:rPr lang="zh-TW" altLang="en-US" dirty="0"/>
              <a:t>」改成「我為何信仰天理教」；內容「炊事本部每天三次</a:t>
            </a:r>
            <a:r>
              <a:rPr lang="en-US" altLang="zh-TW" dirty="0"/>
              <a:t>…</a:t>
            </a:r>
            <a:r>
              <a:rPr lang="zh-TW" altLang="en-US" dirty="0"/>
              <a:t>」等全部內容皆刪除，改成「我是來自台灣的天理教信者，在大約</a:t>
            </a:r>
            <a:r>
              <a:rPr lang="en-US" altLang="zh-TW" dirty="0"/>
              <a:t>…</a:t>
            </a:r>
            <a:r>
              <a:rPr lang="zh-TW" altLang="en-US" dirty="0"/>
              <a:t>」。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3488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47504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TW" altLang="en-US" sz="2000" dirty="0" smtClean="0"/>
              <a:t>如果文章內容出現字太小的情形，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4-5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67953"/>
            <a:ext cx="6625181" cy="5301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57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8640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ja-JP" sz="2000" dirty="0"/>
              <a:t>將內容全部選取後，在下面樣式的地方選取「</a:t>
            </a:r>
            <a:r>
              <a:rPr lang="en-US" altLang="ja-JP" sz="2000" dirty="0"/>
              <a:t>style30</a:t>
            </a:r>
            <a:r>
              <a:rPr lang="zh-TW" altLang="ja-JP" sz="2000" dirty="0"/>
              <a:t>」，可調整回原本的字體</a:t>
            </a:r>
            <a:r>
              <a:rPr lang="zh-TW" altLang="ja-JP" sz="2000" dirty="0" smtClean="0"/>
              <a:t>。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如標題字太小，也可用同樣方法，並選</a:t>
            </a:r>
            <a:r>
              <a:rPr lang="ja-JP" altLang="en-US" sz="2000" dirty="0" smtClean="0"/>
              <a:t>「</a:t>
            </a:r>
            <a:r>
              <a:rPr lang="en-US" altLang="ja-JP" sz="2000" dirty="0" smtClean="0"/>
              <a:t>style29</a:t>
            </a:r>
            <a:r>
              <a:rPr lang="ja-JP" altLang="en-US" sz="2000" dirty="0" smtClean="0"/>
              <a:t>」</a:t>
            </a:r>
            <a:r>
              <a:rPr lang="zh-TW" altLang="en-US" sz="2000" dirty="0" smtClean="0"/>
              <a:t>。</a:t>
            </a:r>
            <a:r>
              <a:rPr lang="en-US" altLang="zh-TW" sz="2000" dirty="0" smtClean="0"/>
              <a:t>)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4-5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484784"/>
            <a:ext cx="6423537" cy="5141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429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8640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插入圖片。例如欲插入文字的最下面。在最後面文字「的信仰。」之後按下</a:t>
            </a:r>
            <a:r>
              <a:rPr lang="en-US" altLang="zh-TW" sz="2000" dirty="0" smtClean="0"/>
              <a:t>enter</a:t>
            </a:r>
            <a:r>
              <a:rPr lang="zh-TW" altLang="en-US" sz="2000" dirty="0" smtClean="0"/>
              <a:t>，使游標進入下一行。然後在工具列上選擇「插入→影像」。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4-6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6538179" cy="523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419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4320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到先前存放照片的</a:t>
            </a:r>
            <a:r>
              <a:rPr lang="en-US" altLang="zh-TW" sz="2000" dirty="0" smtClean="0"/>
              <a:t>image</a:t>
            </a:r>
            <a:r>
              <a:rPr lang="zh-TW" altLang="en-US" sz="2000" dirty="0" smtClean="0"/>
              <a:t>資料夾裡，找出欲插入的</a:t>
            </a:r>
            <a:r>
              <a:rPr lang="en-US" altLang="zh-TW" sz="2000" dirty="0" smtClean="0"/>
              <a:t>DSC_4888.jpg</a:t>
            </a:r>
            <a:r>
              <a:rPr lang="zh-TW" altLang="en-US" sz="2000" dirty="0" smtClean="0"/>
              <a:t>圖片檔。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4-6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430" y="1255166"/>
            <a:ext cx="6846946" cy="5486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114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選取後按下確定，會出現「影像標籤輔助功能屬性」選單，按「取消」。如此即插入完成。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4-6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718" y="1454721"/>
            <a:ext cx="6601642" cy="5286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633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選取後按下確定，會出現「影像標籤輔助功能屬性」選單，按「取消」。如此即插入完成。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4-6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9512" y="2965008"/>
            <a:ext cx="1944216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可利用游標直接調整照片的大小，也可利用下排的工具列調整其位置。但手動調整圖片大小容易導致比例變型，或因圖片過大而影響整個版面配置。</a:t>
            </a:r>
            <a:r>
              <a:rPr lang="zh-TW" altLang="en-US" dirty="0" smtClean="0"/>
              <a:t>建議插入圖片前先用小畫家等編輯器調整圖片。</a:t>
            </a:r>
            <a:endParaRPr kumimoji="1" lang="ja-JP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508235"/>
            <a:ext cx="6624736" cy="5305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41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最後儲存檔案，上排工具列中「檔案→儲存」。也可直接按</a:t>
            </a:r>
            <a:r>
              <a:rPr lang="en-US" altLang="zh-TW" sz="2000" dirty="0" smtClean="0"/>
              <a:t>F12</a:t>
            </a:r>
            <a:r>
              <a:rPr lang="zh-TW" altLang="en-US" sz="2000" dirty="0" smtClean="0"/>
              <a:t>，選擇儲存，並閱覽編輯結果。</a:t>
            </a:r>
            <a:endParaRPr lang="ja-JP" altLang="ja-JP" sz="200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4-7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5267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12776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編輯完檔案本身後，接下來要將檔案與網頁做連結。以菜市場為比喻，就像蔬菜、肉處理完後，要進行貼標籤的工作。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/>
              <a:t>5</a:t>
            </a:r>
            <a:r>
              <a:rPr kumimoji="1" lang="zh-TW" altLang="en-US" sz="3600" dirty="0" smtClean="0"/>
              <a:t>：將檔案與網頁做連結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4929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首先同樣用</a:t>
            </a:r>
            <a:r>
              <a:rPr lang="en-US" altLang="zh-TW" sz="2000" dirty="0" smtClean="0"/>
              <a:t>Dreamweaver</a:t>
            </a:r>
            <a:r>
              <a:rPr lang="zh-TW" altLang="en-US" sz="2000" dirty="0" smtClean="0"/>
              <a:t>，開啟資料夾「</a:t>
            </a:r>
            <a:r>
              <a:rPr lang="en-US" altLang="zh-TW" sz="2000" dirty="0" err="1" smtClean="0"/>
              <a:t>tenrikyo→article</a:t>
            </a:r>
            <a:r>
              <a:rPr lang="zh-TW" altLang="en-US" sz="2000" dirty="0" smtClean="0"/>
              <a:t>」中</a:t>
            </a:r>
            <a:r>
              <a:rPr lang="en-US" altLang="zh-TW" sz="2000" dirty="0" smtClean="0"/>
              <a:t>article-list.html</a:t>
            </a:r>
            <a:r>
              <a:rPr lang="zh-TW" altLang="en-US" sz="2000" dirty="0" smtClean="0"/>
              <a:t>的檔案。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 smtClean="0"/>
              <a:t>5</a:t>
            </a:r>
            <a:r>
              <a:rPr kumimoji="1" lang="en-US" altLang="zh-TW" sz="3600" dirty="0" smtClean="0"/>
              <a:t>-1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416" y="1648544"/>
            <a:ext cx="6096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395536" y="5013176"/>
            <a:ext cx="1584176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此檔案的內容即網頁中「文章→文章列表」的介面。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381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接著我們複製「填飽歸鄉者</a:t>
            </a:r>
            <a:r>
              <a:rPr lang="en-US" altLang="zh-TW" sz="2000" dirty="0" smtClean="0"/>
              <a:t>…</a:t>
            </a:r>
            <a:r>
              <a:rPr lang="zh-TW" altLang="en-US" sz="2000" dirty="0" smtClean="0"/>
              <a:t>五十年」，在「火、水、風的科學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田中康博</a:t>
            </a:r>
            <a:r>
              <a:rPr lang="en-US" altLang="zh-TW" sz="2000" dirty="0" smtClean="0"/>
              <a:t>)</a:t>
            </a:r>
            <a:r>
              <a:rPr lang="zh-TW" altLang="en-US" sz="2000" dirty="0" smtClean="0"/>
              <a:t>」最尾端按下</a:t>
            </a:r>
            <a:r>
              <a:rPr lang="en-US" altLang="zh-TW" sz="2000" dirty="0" smtClean="0"/>
              <a:t>enter</a:t>
            </a:r>
            <a:r>
              <a:rPr lang="zh-TW" altLang="en-US" sz="2000" dirty="0" smtClean="0"/>
              <a:t>，然後貼上。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 smtClean="0"/>
              <a:t>5</a:t>
            </a:r>
            <a:r>
              <a:rPr kumimoji="1" lang="en-US" altLang="zh-TW" sz="3600" dirty="0" smtClean="0"/>
              <a:t>-2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037" y="1556793"/>
            <a:ext cx="6473307" cy="51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573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3681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將游標點在新複製文字之間的任何一處，如「肚」與「子」之間。則在下方連結處會出現「</a:t>
            </a:r>
            <a:r>
              <a:rPr lang="en-US" altLang="zh-TW" sz="2000" dirty="0" smtClean="0"/>
              <a:t>list/article-times-20150719.html</a:t>
            </a:r>
            <a:r>
              <a:rPr lang="zh-TW" altLang="en-US" sz="2000" dirty="0" smtClean="0"/>
              <a:t>」的字樣。這表示按下這個連結，網頁就會前往</a:t>
            </a:r>
            <a:r>
              <a:rPr lang="en-US" altLang="zh-TW" sz="2000" dirty="0" smtClean="0"/>
              <a:t>list</a:t>
            </a:r>
            <a:r>
              <a:rPr lang="zh-TW" altLang="en-US" sz="2000" dirty="0" smtClean="0"/>
              <a:t>下的</a:t>
            </a:r>
            <a:r>
              <a:rPr lang="en-US" altLang="zh-TW" sz="2000" dirty="0" smtClean="0"/>
              <a:t>article</a:t>
            </a:r>
            <a:r>
              <a:rPr lang="zh-TW" altLang="en-US" sz="2000" dirty="0" smtClean="0"/>
              <a:t>資料夾，將</a:t>
            </a:r>
            <a:r>
              <a:rPr lang="en-US" altLang="zh-TW" sz="2000" dirty="0" smtClean="0"/>
              <a:t>article-times-20150719.html</a:t>
            </a:r>
            <a:r>
              <a:rPr lang="zh-TW" altLang="en-US" sz="2000" dirty="0" smtClean="0"/>
              <a:t>檔案打開。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 smtClean="0"/>
              <a:t>5</a:t>
            </a:r>
            <a:r>
              <a:rPr kumimoji="1" lang="en-US" altLang="zh-TW" sz="3600" dirty="0" smtClean="0"/>
              <a:t>-3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107455"/>
            <a:ext cx="5784850" cy="463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83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080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因此，我們只要將目標網頁改成我們剛做好的</a:t>
            </a:r>
            <a:r>
              <a:rPr lang="en-US" altLang="zh-TW" sz="2000" dirty="0" smtClean="0"/>
              <a:t>file01.html</a:t>
            </a:r>
            <a:r>
              <a:rPr lang="zh-TW" altLang="en-US" sz="2000" dirty="0" smtClean="0"/>
              <a:t>即可。更改後的連結為</a:t>
            </a:r>
            <a:r>
              <a:rPr lang="en-US" altLang="zh-TW" sz="2000" dirty="0" smtClean="0"/>
              <a:t>list/file01.html</a:t>
            </a:r>
            <a:r>
              <a:rPr lang="zh-TW" altLang="en-US" sz="2000" dirty="0" smtClean="0"/>
              <a:t>。改完後將游標在畫面中任何一處點一次，以確保新的連結確實鍵入。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 smtClean="0"/>
              <a:t>5</a:t>
            </a:r>
            <a:r>
              <a:rPr kumimoji="1" lang="en-US" altLang="zh-TW" sz="3600" dirty="0" smtClean="0"/>
              <a:t>-3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70787"/>
            <a:ext cx="7071782" cy="346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605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080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在「填飽」的「填」字之前，鍵入「我為何信仰天理教」。然後將原本「填飽</a:t>
            </a:r>
            <a:r>
              <a:rPr lang="en-US" altLang="zh-TW" sz="2000" dirty="0" smtClean="0"/>
              <a:t>…</a:t>
            </a:r>
            <a:r>
              <a:rPr lang="zh-TW" altLang="en-US" sz="2000" dirty="0" smtClean="0"/>
              <a:t>五十年」的字刪除。如此一來，超連結的標題與新增文章的標題便能一致。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 smtClean="0"/>
              <a:t>5</a:t>
            </a:r>
            <a:r>
              <a:rPr kumimoji="1" lang="en-US" altLang="zh-TW" sz="3600" dirty="0" smtClean="0"/>
              <a:t>-4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658568"/>
            <a:ext cx="4824536" cy="4954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7308304" y="5734997"/>
            <a:ext cx="1368152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然後按</a:t>
            </a:r>
            <a:r>
              <a:rPr lang="en-US" altLang="zh-TW" dirty="0"/>
              <a:t>F12</a:t>
            </a:r>
            <a:r>
              <a:rPr lang="zh-TW" altLang="en-US" dirty="0"/>
              <a:t>，儲存。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153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080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此時瀏覽器上會出現已經加入「我為何信仰天理教」的頁面，並且點選後可以連結到之前編輯過的網頁內容。如此一來，所有編輯工作已完成！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 smtClean="0"/>
              <a:t>5</a:t>
            </a:r>
            <a:r>
              <a:rPr kumimoji="1" lang="en-US" altLang="zh-TW" sz="3600" dirty="0" smtClean="0"/>
              <a:t>-5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7411" name="Picture 3" descr="C:\Users\Kuang Yu\Desktop\無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78496"/>
            <a:ext cx="6641554" cy="531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16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52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我們已經在自己的電腦上，編輯了</a:t>
            </a:r>
            <a:r>
              <a:rPr lang="en-US" altLang="zh-TW" dirty="0"/>
              <a:t>2</a:t>
            </a:r>
            <a:r>
              <a:rPr lang="zh-TW" altLang="en-US" dirty="0"/>
              <a:t>個檔案，並且使用</a:t>
            </a:r>
            <a:r>
              <a:rPr lang="en-US" altLang="zh-TW" dirty="0"/>
              <a:t>1</a:t>
            </a:r>
            <a:r>
              <a:rPr lang="zh-TW" altLang="en-US" dirty="0"/>
              <a:t>張照片。經過測試，內容已沒有問題。接下來最後一步，是必須將這些編輯好的檔案及照片上傳至向業者租用的網路</a:t>
            </a:r>
            <a:r>
              <a:rPr lang="zh-TW" altLang="en-US" dirty="0" smtClean="0"/>
              <a:t>空間。就像蔬菜水果貼完標籤後，拿到攤位或超市去供人選購一樣，檔案上傳之後</a:t>
            </a:r>
            <a:r>
              <a:rPr lang="zh-TW" altLang="en-US" dirty="0"/>
              <a:t>即可供所有人閱覽。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 smtClean="0"/>
              <a:t>6</a:t>
            </a:r>
            <a:r>
              <a:rPr kumimoji="1" lang="zh-TW" altLang="en-US" sz="3600" dirty="0" smtClean="0"/>
              <a:t>：上傳網頁及照片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9068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080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首先開啟</a:t>
            </a:r>
            <a:r>
              <a:rPr lang="en-US" altLang="zh-TW" sz="2000" dirty="0" err="1" smtClean="0"/>
              <a:t>fileZilla</a:t>
            </a:r>
            <a:r>
              <a:rPr lang="zh-TW" altLang="en-US" sz="2000" dirty="0" smtClean="0"/>
              <a:t>程式。這個程式可以將「個人電腦」與「向業者租用的網路空間」之間作連結。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6-1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19458" name="Picture 2" descr="C:\Users\Kuang Yu\Desktop\無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84784"/>
            <a:ext cx="6571456" cy="525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16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080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在上端有</a:t>
            </a:r>
            <a:r>
              <a:rPr lang="en-US" altLang="zh-TW" sz="2000" dirty="0" smtClean="0"/>
              <a:t>host</a:t>
            </a:r>
            <a:r>
              <a:rPr lang="zh-TW" altLang="en-US" sz="2000" dirty="0" smtClean="0"/>
              <a:t>、</a:t>
            </a:r>
            <a:r>
              <a:rPr lang="en-US" altLang="zh-TW" sz="2000" dirty="0" smtClean="0"/>
              <a:t>user</a:t>
            </a:r>
            <a:r>
              <a:rPr lang="zh-TW" altLang="en-US" sz="2000" dirty="0" smtClean="0"/>
              <a:t>、</a:t>
            </a:r>
            <a:r>
              <a:rPr lang="en-US" altLang="zh-TW" sz="2000" dirty="0" smtClean="0"/>
              <a:t>password</a:t>
            </a:r>
            <a:r>
              <a:rPr lang="zh-TW" altLang="en-US" sz="2000" dirty="0" smtClean="0"/>
              <a:t>及</a:t>
            </a:r>
            <a:r>
              <a:rPr lang="en-US" altLang="zh-TW" sz="2000" dirty="0" smtClean="0"/>
              <a:t>port</a:t>
            </a:r>
            <a:r>
              <a:rPr lang="zh-TW" altLang="en-US" sz="2000" dirty="0" smtClean="0"/>
              <a:t>等</a:t>
            </a:r>
            <a:r>
              <a:rPr lang="en-US" altLang="zh-TW" sz="2000" dirty="0" smtClean="0"/>
              <a:t>4</a:t>
            </a:r>
            <a:r>
              <a:rPr lang="zh-TW" altLang="en-US" sz="2000" dirty="0" smtClean="0"/>
              <a:t>個空白欄位。以天理教教理學習平台為例，前</a:t>
            </a:r>
            <a:r>
              <a:rPr lang="en-US" altLang="zh-TW" sz="2000" dirty="0" smtClean="0"/>
              <a:t>3</a:t>
            </a:r>
            <a:r>
              <a:rPr lang="zh-TW" altLang="en-US" sz="2000" dirty="0" smtClean="0"/>
              <a:t>個欄位分別鍵入「</a:t>
            </a:r>
            <a:r>
              <a:rPr lang="en-US" altLang="zh-TW" sz="2000" dirty="0" smtClean="0"/>
              <a:t>210.242.72.193</a:t>
            </a:r>
            <a:r>
              <a:rPr lang="zh-TW" altLang="en-US" sz="2000" dirty="0" smtClean="0"/>
              <a:t>」「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請來信尋問</a:t>
            </a:r>
            <a:r>
              <a:rPr lang="en-US" altLang="zh-TW" sz="2000" dirty="0" smtClean="0"/>
              <a:t>)</a:t>
            </a:r>
            <a:r>
              <a:rPr lang="zh-TW" altLang="en-US" sz="2000" dirty="0" smtClean="0"/>
              <a:t>」「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請來信尋問</a:t>
            </a:r>
            <a:r>
              <a:rPr lang="en-US" altLang="zh-TW" sz="2000" dirty="0" smtClean="0"/>
              <a:t>)</a:t>
            </a:r>
            <a:r>
              <a:rPr lang="zh-TW" altLang="en-US" sz="2000" dirty="0" smtClean="0"/>
              <a:t>」，</a:t>
            </a:r>
            <a:r>
              <a:rPr lang="en-US" altLang="zh-TW" sz="2000" dirty="0" smtClean="0"/>
              <a:t>port</a:t>
            </a:r>
            <a:r>
              <a:rPr lang="zh-TW" altLang="en-US" sz="2000" dirty="0" smtClean="0"/>
              <a:t>之處空白。填好後按下連接，即可連線至業者端的網路空間。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6-2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20482" name="Picture 2" descr="C:\Users\Kuang Yu\Desktop\無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92" y="1844824"/>
            <a:ext cx="6121431" cy="48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98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6561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如下圖，在程式上出現</a:t>
            </a:r>
            <a:r>
              <a:rPr lang="en-US" altLang="zh-TW" sz="2000" dirty="0" smtClean="0"/>
              <a:t>2</a:t>
            </a:r>
            <a:r>
              <a:rPr lang="zh-TW" altLang="en-US" sz="2000" dirty="0" smtClean="0"/>
              <a:t>大欄位。左方為自己的電腦硬碟配置；右方為向業者租用的網路空間之資料夾，剛租用時裡面空無一物，現在已放入「天理教教理學習平台」的各式檔案，其資料夾的內容，與自己電腦中</a:t>
            </a:r>
            <a:r>
              <a:rPr lang="en-US" altLang="zh-TW" sz="2000" dirty="0" smtClean="0"/>
              <a:t>D</a:t>
            </a:r>
            <a:r>
              <a:rPr lang="zh-TW" altLang="en-US" sz="2000" dirty="0" smtClean="0"/>
              <a:t>槽下的</a:t>
            </a:r>
            <a:r>
              <a:rPr lang="en-US" altLang="zh-TW" sz="2000" dirty="0" err="1" smtClean="0"/>
              <a:t>nettenrikyo</a:t>
            </a:r>
            <a:r>
              <a:rPr lang="zh-TW" altLang="en-US" sz="2000" dirty="0" smtClean="0"/>
              <a:t>資料夾幾乎完全相同。唯一不同的是，我們剛才新增及更改了</a:t>
            </a:r>
            <a:r>
              <a:rPr lang="en-US" altLang="zh-TW" sz="2000" dirty="0" smtClean="0"/>
              <a:t>2</a:t>
            </a:r>
            <a:r>
              <a:rPr lang="zh-TW" altLang="en-US" sz="2000" dirty="0" smtClean="0"/>
              <a:t>個檔案和</a:t>
            </a:r>
            <a:r>
              <a:rPr lang="en-US" altLang="zh-TW" sz="2000" dirty="0" smtClean="0"/>
              <a:t>1</a:t>
            </a:r>
            <a:r>
              <a:rPr lang="zh-TW" altLang="en-US" sz="2000" dirty="0" smtClean="0"/>
              <a:t>張照片。現在，我們要將這</a:t>
            </a:r>
            <a:r>
              <a:rPr lang="en-US" altLang="zh-TW" sz="2000" dirty="0" smtClean="0"/>
              <a:t>3</a:t>
            </a:r>
            <a:r>
              <a:rPr lang="zh-TW" altLang="en-US" sz="2000" dirty="0" smtClean="0"/>
              <a:t>個新的檔案上傳過去。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6-3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2" y="2420888"/>
            <a:ext cx="5435247" cy="43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678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440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首先在左邊，即個人電腦端，找出</a:t>
            </a:r>
            <a:r>
              <a:rPr lang="zh-TW" altLang="en-US" sz="2000" dirty="0"/>
              <a:t>第</a:t>
            </a:r>
            <a:r>
              <a:rPr lang="en-US" altLang="zh-TW" sz="2000" dirty="0"/>
              <a:t>1</a:t>
            </a:r>
            <a:r>
              <a:rPr lang="zh-TW" altLang="en-US" sz="2000" dirty="0" smtClean="0"/>
              <a:t>個文字檔案的位置，即</a:t>
            </a:r>
            <a:r>
              <a:rPr lang="en-US" altLang="zh-TW" sz="2000" dirty="0" smtClean="0"/>
              <a:t>D</a:t>
            </a:r>
            <a:r>
              <a:rPr lang="zh-TW" altLang="en-US" sz="2000" dirty="0" smtClean="0"/>
              <a:t>槽→</a:t>
            </a:r>
            <a:r>
              <a:rPr lang="en-US" altLang="zh-TW" sz="2000" dirty="0" err="1" smtClean="0"/>
              <a:t>nettenrikyo→article</a:t>
            </a:r>
            <a:r>
              <a:rPr lang="zh-TW" altLang="en-US" sz="2000" dirty="0" smtClean="0"/>
              <a:t>。在這裡，我們曾經對</a:t>
            </a:r>
            <a:r>
              <a:rPr lang="en-US" altLang="zh-TW" sz="2000" dirty="0" smtClean="0"/>
              <a:t>article-list.html</a:t>
            </a:r>
            <a:r>
              <a:rPr lang="zh-TW" altLang="en-US" sz="2000" dirty="0" smtClean="0"/>
              <a:t>進行過修改。</a:t>
            </a:r>
            <a:endParaRPr lang="en-US" altLang="zh-TW" sz="2000" dirty="0" smtClean="0"/>
          </a:p>
          <a:p>
            <a:pPr marL="0" indent="0">
              <a:buNone/>
            </a:pPr>
            <a:r>
              <a:rPr lang="zh-TW" altLang="en-US" sz="2000" dirty="0" smtClean="0"/>
              <a:t>接著，在右邊的框框，即業者端的資料夾裡，也進入</a:t>
            </a:r>
            <a:r>
              <a:rPr lang="en-US" altLang="zh-TW" sz="2000" dirty="0" smtClean="0"/>
              <a:t>article</a:t>
            </a:r>
            <a:r>
              <a:rPr lang="zh-TW" altLang="en-US" sz="2000" dirty="0" smtClean="0"/>
              <a:t>資料夾裡。現在，兩邊資料夾呈現出一模一樣的排列。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6-4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22532" name="Picture 4" descr="C:\Users\Kuang Yu\Desktop\無題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76872"/>
            <a:ext cx="8712968" cy="432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64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1440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然後，我們先把右邊的</a:t>
            </a:r>
            <a:r>
              <a:rPr lang="en-US" altLang="zh-TW" sz="2000" dirty="0" smtClean="0"/>
              <a:t>article-list.html</a:t>
            </a:r>
            <a:r>
              <a:rPr lang="zh-TW" altLang="en-US" sz="2000" dirty="0" smtClean="0"/>
              <a:t>檔案刪掉，再將左邊的檔案捉到右邊去。如此一來即完成「文章列表」網頁的更新。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此動作為「複製」，原本的檔案不會消失。</a:t>
            </a:r>
            <a:r>
              <a:rPr lang="en-US" altLang="zh-TW" sz="2000" dirty="0" smtClean="0"/>
              <a:t>)</a:t>
            </a:r>
            <a:endParaRPr lang="zh-TW" altLang="en-US" sz="2000" dirty="0" smtClean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6-5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22721"/>
            <a:ext cx="7560840" cy="484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146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接著進入「</a:t>
            </a:r>
            <a:r>
              <a:rPr lang="en-US" altLang="zh-TW" sz="2000" dirty="0" smtClean="0"/>
              <a:t>list</a:t>
            </a:r>
            <a:r>
              <a:rPr lang="zh-TW" altLang="en-US" sz="2000" dirty="0" smtClean="0"/>
              <a:t>」資料夾。先前用</a:t>
            </a:r>
            <a:r>
              <a:rPr lang="en-US" altLang="zh-TW" sz="2000" dirty="0" err="1" smtClean="0"/>
              <a:t>dreamweaver</a:t>
            </a:r>
            <a:r>
              <a:rPr lang="zh-TW" altLang="en-US" sz="2000" dirty="0" smtClean="0"/>
              <a:t>做好的</a:t>
            </a:r>
            <a:r>
              <a:rPr lang="en-US" altLang="zh-TW" sz="2000" dirty="0" smtClean="0"/>
              <a:t>file01.html</a:t>
            </a:r>
            <a:r>
              <a:rPr lang="zh-TW" altLang="en-US" sz="2000" dirty="0" smtClean="0"/>
              <a:t>只存在於本端資料夾，因此只要將此檔案捉到右邊去即可。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6-6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45049"/>
            <a:ext cx="6696744" cy="536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022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7920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 smtClean="0"/>
              <a:t>最後進入「</a:t>
            </a:r>
            <a:r>
              <a:rPr lang="en-US" altLang="zh-TW" sz="2000" dirty="0" smtClean="0"/>
              <a:t>images</a:t>
            </a:r>
            <a:r>
              <a:rPr lang="zh-TW" altLang="en-US" sz="2000" dirty="0" smtClean="0"/>
              <a:t>」資料夾。同樣，新增的照片檔</a:t>
            </a:r>
            <a:r>
              <a:rPr lang="en-US" altLang="zh-TW" sz="2000" dirty="0" smtClean="0"/>
              <a:t>DSC_4888.jpg</a:t>
            </a:r>
            <a:r>
              <a:rPr lang="zh-TW" altLang="en-US" sz="2000" dirty="0" smtClean="0"/>
              <a:t>只存在左邊，只要把它捉到右邊去即可。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kumimoji="1" lang="en-US" altLang="zh-TW" sz="3600" dirty="0" smtClean="0"/>
              <a:t>6-7</a:t>
            </a:r>
            <a:r>
              <a:rPr kumimoji="1" lang="zh-TW" altLang="en-US" sz="3600" dirty="0" smtClean="0"/>
              <a:t>：</a:t>
            </a:r>
            <a:endParaRPr kumimoji="1" lang="ja-JP" altLang="en-US" sz="36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46303"/>
            <a:ext cx="6696744" cy="5367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05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36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 smtClean="0"/>
              <a:t>最後，檢查網頁是否已確實更新。連線到</a:t>
            </a:r>
            <a:r>
              <a:rPr lang="en-US" altLang="zh-TW" dirty="0" smtClean="0"/>
              <a:t>http://www.tenrikyo.url.tw/index.html</a:t>
            </a:r>
            <a:r>
              <a:rPr lang="zh-TW" altLang="en-US" dirty="0" smtClean="0"/>
              <a:t>，進入「文章→文章列表」，可見到「我為何信仰天理教」已經在網頁中。點選進去後，文章及照片也確實出現。如此一來便大功告成！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TW" altLang="en-US" sz="3600" dirty="0" smtClean="0"/>
              <a:t>步驟</a:t>
            </a:r>
            <a:r>
              <a:rPr lang="en-US" altLang="zh-TW" sz="3600" dirty="0"/>
              <a:t>7</a:t>
            </a:r>
            <a:r>
              <a:rPr kumimoji="1" lang="zh-TW" altLang="en-US" sz="3600" dirty="0" smtClean="0"/>
              <a:t>：確認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0433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85" y="110902"/>
            <a:ext cx="8370371" cy="670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500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4624"/>
            <a:ext cx="8421134" cy="674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12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ウェーブ">
  <a:themeElements>
    <a:clrScheme name="ウェーブ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ウェーブ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ェーブ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275</TotalTime>
  <Words>1348</Words>
  <Application>Microsoft Office PowerPoint</Application>
  <PresentationFormat>画面に合わせる (4:3)</PresentationFormat>
  <Paragraphs>94</Paragraphs>
  <Slides>41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2" baseType="lpstr">
      <vt:lpstr>ウェーブ</vt:lpstr>
      <vt:lpstr>網頁上傳基本原理 </vt:lpstr>
      <vt:lpstr>一.基本概念</vt:lpstr>
      <vt:lpstr>Q：為何過去需要在家中「架站」，現在不需要？</vt:lpstr>
      <vt:lpstr>二.實作</vt:lpstr>
      <vt:lpstr>步驟1：複製資料夾</vt:lpstr>
      <vt:lpstr>步驟1</vt:lpstr>
      <vt:lpstr>步驟2：準備好要發佈的文章</vt:lpstr>
      <vt:lpstr>步驟2：準備好要發佈的文章</vt:lpstr>
      <vt:lpstr>步驟2：準備好要發佈的文章</vt:lpstr>
      <vt:lpstr>步驟3：決定文章在網頁資料夾中存放處</vt:lpstr>
      <vt:lpstr>步驟4：以Dreamweaver進行檔案編輯</vt:lpstr>
      <vt:lpstr>步驟4-1：</vt:lpstr>
      <vt:lpstr>步驟4-2：</vt:lpstr>
      <vt:lpstr>步驟4-3：</vt:lpstr>
      <vt:lpstr>步驟4-4：</vt:lpstr>
      <vt:lpstr>步驟4-5：</vt:lpstr>
      <vt:lpstr>步驟4-5：</vt:lpstr>
      <vt:lpstr>步驟4-5：</vt:lpstr>
      <vt:lpstr>步驟4-6：</vt:lpstr>
      <vt:lpstr>步驟4-6：</vt:lpstr>
      <vt:lpstr>步驟4-6：</vt:lpstr>
      <vt:lpstr>步驟4-6：</vt:lpstr>
      <vt:lpstr>步驟4-7：</vt:lpstr>
      <vt:lpstr>步驟5：將檔案與網頁做連結</vt:lpstr>
      <vt:lpstr>步驟5-1：</vt:lpstr>
      <vt:lpstr>步驟5-2：</vt:lpstr>
      <vt:lpstr>步驟5-3：</vt:lpstr>
      <vt:lpstr>步驟5-3：</vt:lpstr>
      <vt:lpstr>步驟5-4：</vt:lpstr>
      <vt:lpstr>步驟5-5：</vt:lpstr>
      <vt:lpstr>步驟6：上傳網頁及照片</vt:lpstr>
      <vt:lpstr>步驟6-1：</vt:lpstr>
      <vt:lpstr>步驟6-2：</vt:lpstr>
      <vt:lpstr>步驟6-3：</vt:lpstr>
      <vt:lpstr>步驟6-4：</vt:lpstr>
      <vt:lpstr>步驟6-5：</vt:lpstr>
      <vt:lpstr>步驟6-6：</vt:lpstr>
      <vt:lpstr>步驟6-7：</vt:lpstr>
      <vt:lpstr>步驟7：確認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網頁上傳基本原理</dc:title>
  <dc:creator>Kuang Yu</dc:creator>
  <cp:lastModifiedBy>Kuang Yu</cp:lastModifiedBy>
  <cp:revision>19</cp:revision>
  <dcterms:created xsi:type="dcterms:W3CDTF">2015-08-13T00:50:41Z</dcterms:created>
  <dcterms:modified xsi:type="dcterms:W3CDTF">2015-09-18T04:39:46Z</dcterms:modified>
</cp:coreProperties>
</file>