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2adf76fdbd4109" /><Relationship Type="http://schemas.openxmlformats.org/officeDocument/2006/relationships/extended-properties" Target="/docProps/app.xml" Id="Rb3f6615adc514ef8" /><Relationship Type="http://schemas.openxmlformats.org/officeDocument/2006/relationships/officeDocument" Target="/ppt/presentation.xml" Id="R75c81da1355247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4e80ac13d64364"/>
  </p:sldMasterIdLst>
  <p:notesMasterIdLst>
    <p:notesMasterId xmlns:r="http://schemas.openxmlformats.org/officeDocument/2006/relationships" r:id="R9b740373a379477f"/>
  </p:notesMasterIdLst>
  <p:sldIdLst>
    <p:sldId xmlns:r="http://schemas.openxmlformats.org/officeDocument/2006/relationships" id="256" r:id="Racfb7f5203bb4e34"/>
    <p:sldId xmlns:r="http://schemas.openxmlformats.org/officeDocument/2006/relationships" id="257" r:id="R7ea9348b951c407d"/>
    <p:sldId xmlns:r="http://schemas.openxmlformats.org/officeDocument/2006/relationships" id="258" r:id="R5833b24ce2b044ce"/>
    <p:sldId xmlns:r="http://schemas.openxmlformats.org/officeDocument/2006/relationships" id="259" r:id="Ra57cf60502a64b10"/>
    <p:sldId xmlns:r="http://schemas.openxmlformats.org/officeDocument/2006/relationships" id="260" r:id="R2b1409d73d4849a4"/>
    <p:sldId xmlns:r="http://schemas.openxmlformats.org/officeDocument/2006/relationships" id="261" r:id="R69265c1b07a440f9"/>
    <p:sldId xmlns:r="http://schemas.openxmlformats.org/officeDocument/2006/relationships" id="262" r:id="R52e65c3b95e34af6"/>
    <p:sldId xmlns:r="http://schemas.openxmlformats.org/officeDocument/2006/relationships" id="263" r:id="R61598199930e43f5"/>
    <p:sldId xmlns:r="http://schemas.openxmlformats.org/officeDocument/2006/relationships" id="264" r:id="R10916f0f9a4441c4"/>
    <p:sldId xmlns:r="http://schemas.openxmlformats.org/officeDocument/2006/relationships" id="265" r:id="R155931ef1ce14b63"/>
    <p:sldId xmlns:r="http://schemas.openxmlformats.org/officeDocument/2006/relationships" id="266" r:id="R164de548ad524b2a"/>
    <p:sldId xmlns:r="http://schemas.openxmlformats.org/officeDocument/2006/relationships" id="267" r:id="R6feb26a336c84906"/>
    <p:sldId xmlns:r="http://schemas.openxmlformats.org/officeDocument/2006/relationships" id="268" r:id="Rf932873727194cce"/>
    <p:sldId xmlns:r="http://schemas.openxmlformats.org/officeDocument/2006/relationships" id="269" r:id="Ref247ec68f5d462d"/>
    <p:sldId xmlns:r="http://schemas.openxmlformats.org/officeDocument/2006/relationships" id="270" r:id="R47bdb3977c144b09"/>
    <p:sldId xmlns:r="http://schemas.openxmlformats.org/officeDocument/2006/relationships" id="271" r:id="R63126bcec4424f9b"/>
    <p:sldId xmlns:r="http://schemas.openxmlformats.org/officeDocument/2006/relationships" id="272" r:id="Rf22563a1a51d4d32"/>
    <p:sldId xmlns:r="http://schemas.openxmlformats.org/officeDocument/2006/relationships" id="273" r:id="R21d4649de27e46ca"/>
    <p:sldId xmlns:r="http://schemas.openxmlformats.org/officeDocument/2006/relationships" id="274" r:id="R125f4fdbcad346a3"/>
    <p:sldId xmlns:r="http://schemas.openxmlformats.org/officeDocument/2006/relationships" id="275" r:id="R030a1c369cb44984"/>
    <p:sldId xmlns:r="http://schemas.openxmlformats.org/officeDocument/2006/relationships" id="276" r:id="R688a84cb9e274dc4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f0ef0635264e09" /><Relationship Type="http://schemas.openxmlformats.org/officeDocument/2006/relationships/slideMaster" Target="/ppt/slideMasters/slideMaster1.xml" Id="R034e80ac13d64364" /><Relationship Type="http://schemas.openxmlformats.org/officeDocument/2006/relationships/notesMaster" Target="/ppt/notesMasters/notesMaster1.xml" Id="R9b740373a379477f" /><Relationship Type="http://schemas.openxmlformats.org/officeDocument/2006/relationships/presProps" Target="/ppt/presProps.xml" Id="R05d4494963234d38" /><Relationship Type="http://schemas.openxmlformats.org/officeDocument/2006/relationships/viewProps" Target="/ppt/viewProps.xml" Id="R3f6ec32347234f25" /><Relationship Type="http://schemas.openxmlformats.org/officeDocument/2006/relationships/tableStyles" Target="/ppt/tableStyles.xml" Id="Ref04b22d4f134cf3" /><Relationship Type="http://schemas.openxmlformats.org/officeDocument/2006/relationships/slide" Target="/ppt/slides/slide1.xml" Id="Racfb7f5203bb4e34" /><Relationship Type="http://schemas.openxmlformats.org/officeDocument/2006/relationships/slide" Target="/ppt/slides/slide2.xml" Id="R7ea9348b951c407d" /><Relationship Type="http://schemas.openxmlformats.org/officeDocument/2006/relationships/slide" Target="/ppt/slides/slide3.xml" Id="R5833b24ce2b044ce" /><Relationship Type="http://schemas.openxmlformats.org/officeDocument/2006/relationships/slide" Target="/ppt/slides/slide4.xml" Id="Ra57cf60502a64b10" /><Relationship Type="http://schemas.openxmlformats.org/officeDocument/2006/relationships/slide" Target="/ppt/slides/slide5.xml" Id="R2b1409d73d4849a4" /><Relationship Type="http://schemas.openxmlformats.org/officeDocument/2006/relationships/slide" Target="/ppt/slides/slide6.xml" Id="R69265c1b07a440f9" /><Relationship Type="http://schemas.openxmlformats.org/officeDocument/2006/relationships/slide" Target="/ppt/slides/slide7.xml" Id="R52e65c3b95e34af6" /><Relationship Type="http://schemas.openxmlformats.org/officeDocument/2006/relationships/slide" Target="/ppt/slides/slide8.xml" Id="R61598199930e43f5" /><Relationship Type="http://schemas.openxmlformats.org/officeDocument/2006/relationships/slide" Target="/ppt/slides/slide9.xml" Id="R10916f0f9a4441c4" /><Relationship Type="http://schemas.openxmlformats.org/officeDocument/2006/relationships/slide" Target="/ppt/slides/slide10.xml" Id="R155931ef1ce14b63" /><Relationship Type="http://schemas.openxmlformats.org/officeDocument/2006/relationships/slide" Target="/ppt/slides/slide11.xml" Id="R164de548ad524b2a" /><Relationship Type="http://schemas.openxmlformats.org/officeDocument/2006/relationships/slide" Target="/ppt/slides/slide12.xml" Id="R6feb26a336c84906" /><Relationship Type="http://schemas.openxmlformats.org/officeDocument/2006/relationships/slide" Target="/ppt/slides/slide13.xml" Id="Rf932873727194cce" /><Relationship Type="http://schemas.openxmlformats.org/officeDocument/2006/relationships/slide" Target="/ppt/slides/slide14.xml" Id="Ref247ec68f5d462d" /><Relationship Type="http://schemas.openxmlformats.org/officeDocument/2006/relationships/slide" Target="/ppt/slides/slide15.xml" Id="R47bdb3977c144b09" /><Relationship Type="http://schemas.openxmlformats.org/officeDocument/2006/relationships/slide" Target="/ppt/slides/slide16.xml" Id="R63126bcec4424f9b" /><Relationship Type="http://schemas.openxmlformats.org/officeDocument/2006/relationships/slide" Target="/ppt/slides/slide17.xml" Id="Rf22563a1a51d4d32" /><Relationship Type="http://schemas.openxmlformats.org/officeDocument/2006/relationships/slide" Target="/ppt/slides/slide18.xml" Id="R21d4649de27e46ca" /><Relationship Type="http://schemas.openxmlformats.org/officeDocument/2006/relationships/slide" Target="/ppt/slides/slide19.xml" Id="R125f4fdbcad346a3" /><Relationship Type="http://schemas.openxmlformats.org/officeDocument/2006/relationships/slide" Target="/ppt/slides/slide20.xml" Id="R030a1c369cb44984" /><Relationship Type="http://schemas.openxmlformats.org/officeDocument/2006/relationships/slide" Target="/ppt/slides/slide21.xml" Id="R688a84cb9e274d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97ce68cb8946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6dc2d4f9494a6f" /><Relationship Type="http://schemas.openxmlformats.org/officeDocument/2006/relationships/notesMaster" Target="/ppt/notesMasters/notesMaster1.xml" Id="R9c6094b1cc1941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49c5cf170d4cd9" /><Relationship Type="http://schemas.openxmlformats.org/officeDocument/2006/relationships/notesMaster" Target="/ppt/notesMasters/notesMaster1.xml" Id="Red9e4c8bf9cb44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2161bde3aa468a" /><Relationship Type="http://schemas.openxmlformats.org/officeDocument/2006/relationships/notesMaster" Target="/ppt/notesMasters/notesMaster1.xml" Id="Rf037f3374e784b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b97f1c8e7d47e2" /><Relationship Type="http://schemas.openxmlformats.org/officeDocument/2006/relationships/notesMaster" Target="/ppt/notesMasters/notesMaster1.xml" Id="Rdddc1ba41efe4b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03400d2c2c4f67" /><Relationship Type="http://schemas.openxmlformats.org/officeDocument/2006/relationships/notesMaster" Target="/ppt/notesMasters/notesMaster1.xml" Id="R94c2f35e4f8948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fd6d70d58c4946" /><Relationship Type="http://schemas.openxmlformats.org/officeDocument/2006/relationships/notesMaster" Target="/ppt/notesMasters/notesMaster1.xml" Id="Rcc6d61eebedd4f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2dfa89a6934f28" /><Relationship Type="http://schemas.openxmlformats.org/officeDocument/2006/relationships/notesMaster" Target="/ppt/notesMasters/notesMaster1.xml" Id="Re571a146d1e94a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7b1bde14374634" /><Relationship Type="http://schemas.openxmlformats.org/officeDocument/2006/relationships/notesMaster" Target="/ppt/notesMasters/notesMaster1.xml" Id="R2592bcef286248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83fcaeb70946ae" /><Relationship Type="http://schemas.openxmlformats.org/officeDocument/2006/relationships/notesMaster" Target="/ppt/notesMasters/notesMaster1.xml" Id="Rf9625645a39647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aa2bb0aa34424d" /><Relationship Type="http://schemas.openxmlformats.org/officeDocument/2006/relationships/notesMaster" Target="/ppt/notesMasters/notesMaster1.xml" Id="R397295de795045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f9baba705c4caa" /><Relationship Type="http://schemas.openxmlformats.org/officeDocument/2006/relationships/notesMaster" Target="/ppt/notesMasters/notesMaster1.xml" Id="Rc94df68289354e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247864f5844e2c" /><Relationship Type="http://schemas.openxmlformats.org/officeDocument/2006/relationships/notesMaster" Target="/ppt/notesMasters/notesMaster1.xml" Id="R4dd05f19170444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3c546f391c4210" /><Relationship Type="http://schemas.openxmlformats.org/officeDocument/2006/relationships/notesMaster" Target="/ppt/notesMasters/notesMaster1.xml" Id="Rc93fb833402843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166e4968cf4b20" /><Relationship Type="http://schemas.openxmlformats.org/officeDocument/2006/relationships/notesMaster" Target="/ppt/notesMasters/notesMaster1.xml" Id="Rc34f1fdbf55d4d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730d44cebc41a3" /><Relationship Type="http://schemas.openxmlformats.org/officeDocument/2006/relationships/notesMaster" Target="/ppt/notesMasters/notesMaster1.xml" Id="R6e7398ac5f0245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330dd0d56e4c11" /><Relationship Type="http://schemas.openxmlformats.org/officeDocument/2006/relationships/notesMaster" Target="/ppt/notesMasters/notesMaster1.xml" Id="R1e78ae44a7a044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8bcf5d32594026" /><Relationship Type="http://schemas.openxmlformats.org/officeDocument/2006/relationships/notesMaster" Target="/ppt/notesMasters/notesMaster1.xml" Id="R08b8d553ad82414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8a5c0dc1724db5" /><Relationship Type="http://schemas.openxmlformats.org/officeDocument/2006/relationships/notesMaster" Target="/ppt/notesMasters/notesMaster1.xml" Id="R165efdb79c5c4e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22730bb0bc44214" /><Relationship Type="http://schemas.openxmlformats.org/officeDocument/2006/relationships/notesMaster" Target="/ppt/notesMasters/notesMaster1.xml" Id="R894b7951cb7c4c0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e5f5b343974e81" /><Relationship Type="http://schemas.openxmlformats.org/officeDocument/2006/relationships/notesMaster" Target="/ppt/notesMasters/notesMaster1.xml" Id="Rc4b12f66a59546c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33a8d2525914f98" /><Relationship Type="http://schemas.openxmlformats.org/officeDocument/2006/relationships/notesMaster" Target="/ppt/notesMasters/notesMaster1.xml" Id="R4e8d3514b2694e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8638c211849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27b2737d249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3663625c346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c9512bd4484e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0b1371f8143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0c1dfd4c4447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336b5d18e4a2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9229e81c747d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6de3fe6a8463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a8800c1d94a4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06f66a7cc465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CE184A-73B2-46FB-B19D-BF1AC8407ED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5316BD8-384A-42F9-B841-6C490D5849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B5C6E1-1C73-4E4B-AE1B-78340AFA74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10/18/2026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D36731-E486-42DE-BEAC-87CE118C77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125965-F34E-43D8-904F-A3B8C03DE9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74DD6B-9A9E-4215-9A8E-574132A893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A8CFB22-A2B9-4F1A-BF88-436FA5BF3E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5283DC-B74E-4A55-8302-581BF0DB2C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10/18/2026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CBCADB-F48C-46B4-8761-AAB66ACB37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B27D676-16DF-42BC-A313-D6F1811761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43D765-68EA-4ABF-9198-D8CA00A2E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2C8908C-52C3-4515-910F-46596D48D8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757F5F-D7B6-4E76-A2F5-2198A47903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10/18/2026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04125B-BEF5-4024-B8DF-A6F8D708E2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E19DA-AB2A-4117-88C6-A5CF4C589C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D445B5-0B9D-4FAE-84D8-971D4CF66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9B181B-C301-473D-99A5-33697E348B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D888D38-71C1-4041-AF7A-EAB5BC638A4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E0F92B9-E06D-407E-9D94-31588F6541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10/18/2026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8D96E70-3F77-4E59-A020-57FEBFDB92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E3D36A-646E-422F-83CF-6343BBD66B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3BA32B-7EA3-48D0-9FE6-2FC9C5F4C6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5B44BC5-AFCE-4141-A7F4-C1632C4B8E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83195B5-5E03-4376-8765-2973F15A81C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1DB81F7-4538-450F-8740-075B03A996D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76E0DA3-CF41-430E-BE0D-14301CFE9AF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7C72244-0D95-4274-9A83-6C5A00D1FC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10/18/2026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8A195CF-1EA3-454D-9C74-2A7B89BF63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A1C9B3E-CAFE-48E9-AF56-A360CFFE5E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C5EBA7-A788-4FF3-9062-8C545998F8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52D1342-4D2C-4407-AAA7-F7CFE829A6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10/18/2026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74A0403-3EDC-41A8-9378-56709D4E38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B5BAABB-FA23-44BD-8F83-67AB8F048A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5583916-2E7B-4A43-8CC0-7C1BB75E22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10/18/2026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E77E4FA-F99B-430D-826F-4779BE514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D7E039E-B550-49C0-83B3-DEF709BA43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8F068B-5A93-41EE-B67F-15B3829F7D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B97C745-E18E-49A1-95F7-EDFFCFB1B4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C2CC6CA-1C27-4F7D-B229-290C0C0C2E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B447D9F-6A0E-4562-B22C-7E555CAE72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10/18/2026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CAB0044-521E-4BD4-8DD3-ECB9331704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327CF81-3D9D-4B17-B6AE-DBBC4779C7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F74ABA-DAB0-439D-879D-A586C218A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A8CD347-906B-4673-8A10-AA163B93D1A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B4DD76C-E76D-4F2D-813B-7C60AA0CA0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BA9B6F8-2D23-42AC-9999-E507417374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10/18/2026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368410D-B043-4480-AFC2-DDBAC3EEA0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F8B13B8-4EBD-4585-B379-88CEEBC6FA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6D07BC-CF25-4C80-A4A8-310DE8BB95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4CADBEA-AB6C-4380-A76C-0B71C4266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7FEEB1-78BA-4AAA-8A7E-0C365B5596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10/18/2026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BE1A17-0985-4EF8-8969-73B967717F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2278B9A-DFD5-4AC2-B87E-7D38E7E26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8148854-967F-4D70-B839-4A53845DEF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B25D33-55CD-4ABB-A576-27C5708BFF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B1B2E14-01F0-4E64-85E4-86F78D2FFC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10/18/2026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84BC8B5-12F9-4E55-8F65-72709B2ED1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F02D93-25CC-440B-AE4B-C2055F2AE3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cc45074f714680" /><Relationship Type="http://schemas.openxmlformats.org/officeDocument/2006/relationships/slideLayout" Target="/ppt/slideLayouts/slideLayout1.xml" Id="Rf97bda58f4c646f1" /><Relationship Type="http://schemas.openxmlformats.org/officeDocument/2006/relationships/slideLayout" Target="/ppt/slideLayouts/slideLayout2.xml" Id="R8187a94038f142e3" /><Relationship Type="http://schemas.openxmlformats.org/officeDocument/2006/relationships/slideLayout" Target="/ppt/slideLayouts/slideLayout3.xml" Id="Rac227c30aeb94823" /><Relationship Type="http://schemas.openxmlformats.org/officeDocument/2006/relationships/slideLayout" Target="/ppt/slideLayouts/slideLayout4.xml" Id="R433492d74fbf4456" /><Relationship Type="http://schemas.openxmlformats.org/officeDocument/2006/relationships/slideLayout" Target="/ppt/slideLayouts/slideLayout5.xml" Id="R4e204f2e4d0a4c3d" /><Relationship Type="http://schemas.openxmlformats.org/officeDocument/2006/relationships/slideLayout" Target="/ppt/slideLayouts/slideLayout6.xml" Id="R201aceaf3f484e9a" /><Relationship Type="http://schemas.openxmlformats.org/officeDocument/2006/relationships/slideLayout" Target="/ppt/slideLayouts/slideLayout7.xml" Id="Rb46a7c67611e436f" /><Relationship Type="http://schemas.openxmlformats.org/officeDocument/2006/relationships/slideLayout" Target="/ppt/slideLayouts/slideLayout8.xml" Id="R88f0b0302b124043" /><Relationship Type="http://schemas.openxmlformats.org/officeDocument/2006/relationships/slideLayout" Target="/ppt/slideLayouts/slideLayout9.xml" Id="R6375cbecbaa54bda" /><Relationship Type="http://schemas.openxmlformats.org/officeDocument/2006/relationships/slideLayout" Target="/ppt/slideLayouts/slideLayout10.xml" Id="R4eeb58e12bca4a35" /><Relationship Type="http://schemas.openxmlformats.org/officeDocument/2006/relationships/slideLayout" Target="/ppt/slideLayouts/slideLayout11.xml" Id="Rd85c3d476c04453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4571F39-8507-4D20-98A8-F314235374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558CFF-6E03-4B60-814E-3D791F69B5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15A29B8-81EB-4D10-B1EA-D58E5439014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10/18/2026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EE4EF1-A06F-4A4C-B475-BE25698D620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102A4E-0A7E-442B-A670-DC5F20ADC1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7bda58f4c646f1"/>
    <p:sldLayoutId xmlns:r="http://schemas.openxmlformats.org/officeDocument/2006/relationships" id="2147483650" r:id="R8187a94038f142e3"/>
    <p:sldLayoutId xmlns:r="http://schemas.openxmlformats.org/officeDocument/2006/relationships" id="2147483651" r:id="Rac227c30aeb94823"/>
    <p:sldLayoutId xmlns:r="http://schemas.openxmlformats.org/officeDocument/2006/relationships" id="2147483652" r:id="R433492d74fbf4456"/>
    <p:sldLayoutId xmlns:r="http://schemas.openxmlformats.org/officeDocument/2006/relationships" id="2147483653" r:id="R4e204f2e4d0a4c3d"/>
    <p:sldLayoutId xmlns:r="http://schemas.openxmlformats.org/officeDocument/2006/relationships" id="2147483654" r:id="R201aceaf3f484e9a"/>
    <p:sldLayoutId xmlns:r="http://schemas.openxmlformats.org/officeDocument/2006/relationships" id="2147483655" r:id="Rb46a7c67611e436f"/>
    <p:sldLayoutId xmlns:r="http://schemas.openxmlformats.org/officeDocument/2006/relationships" id="2147483656" r:id="R88f0b0302b124043"/>
    <p:sldLayoutId xmlns:r="http://schemas.openxmlformats.org/officeDocument/2006/relationships" id="2147483657" r:id="R6375cbecbaa54bda"/>
    <p:sldLayoutId xmlns:r="http://schemas.openxmlformats.org/officeDocument/2006/relationships" id="2147483658" r:id="R4eeb58e12bca4a35"/>
    <p:sldLayoutId xmlns:r="http://schemas.openxmlformats.org/officeDocument/2006/relationships" id="2147483659" r:id="Rd85c3d476c04453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731c89015a40d6" /><Relationship Type="http://schemas.openxmlformats.org/officeDocument/2006/relationships/notesSlide" Target="/ppt/notesSlides/notesSlide1.xml" Id="R4337eb143ce949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5b37377f6d4194" /><Relationship Type="http://schemas.openxmlformats.org/officeDocument/2006/relationships/notesSlide" Target="/ppt/notesSlides/notesSlide2.xml" Id="R33cc71faf93148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1acbbafdf145dc" /><Relationship Type="http://schemas.openxmlformats.org/officeDocument/2006/relationships/chart" Target="/ppt/slides/charts/chart1.xml" Id="R8afd5d55d030475d" /><Relationship Type="http://schemas.openxmlformats.org/officeDocument/2006/relationships/notesSlide" Target="/ppt/notesSlides/notesSlide3.xml" Id="Rb31a666dcb334f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b8952a90504677" /><Relationship Type="http://schemas.openxmlformats.org/officeDocument/2006/relationships/notesSlide" Target="/ppt/notesSlides/notesSlide4.xml" Id="Ra57ad675e06540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516819658f4ce4" /><Relationship Type="http://schemas.openxmlformats.org/officeDocument/2006/relationships/notesSlide" Target="/ppt/notesSlides/notesSlide5.xml" Id="R9c4437ca1b184b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b823df85864989" /><Relationship Type="http://schemas.openxmlformats.org/officeDocument/2006/relationships/notesSlide" Target="/ppt/notesSlides/notesSlide6.xml" Id="R3d3e0c28689b4a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97c3bfbdd74376" /><Relationship Type="http://schemas.openxmlformats.org/officeDocument/2006/relationships/notesSlide" Target="/ppt/notesSlides/notesSlide7.xml" Id="Reddd094da33a48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2944ce4df548f5" /><Relationship Type="http://schemas.openxmlformats.org/officeDocument/2006/relationships/notesSlide" Target="/ppt/notesSlides/notesSlide8.xml" Id="Re21f02eeab0b4c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e73f373aec43fe" /><Relationship Type="http://schemas.openxmlformats.org/officeDocument/2006/relationships/notesSlide" Target="/ppt/notesSlides/notesSlide9.xml" Id="Re19665894a914c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d35e48f45d4bb3" /><Relationship Type="http://schemas.openxmlformats.org/officeDocument/2006/relationships/notesSlide" Target="/ppt/notesSlides/notesSlide10.xml" Id="R0efc001a619844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a17becd5ef47f5" /><Relationship Type="http://schemas.openxmlformats.org/officeDocument/2006/relationships/notesSlide" Target="/ppt/notesSlides/notesSlide11.xml" Id="R7f13b061aded4e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65d2f82ccf4129" /><Relationship Type="http://schemas.openxmlformats.org/officeDocument/2006/relationships/notesSlide" Target="/ppt/notesSlides/notesSlide12.xml" Id="Ra8d9345e65ac44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1f664b45484c28" /><Relationship Type="http://schemas.openxmlformats.org/officeDocument/2006/relationships/notesSlide" Target="/ppt/notesSlides/notesSlide13.xml" Id="R912bafb63b2940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0ecb9308184edc" /><Relationship Type="http://schemas.openxmlformats.org/officeDocument/2006/relationships/notesSlide" Target="/ppt/notesSlides/notesSlide14.xml" Id="R94470eaab42447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92fb7773ae4353" /><Relationship Type="http://schemas.openxmlformats.org/officeDocument/2006/relationships/notesSlide" Target="/ppt/notesSlides/notesSlide15.xml" Id="R87593e5f5cf447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0f1143debd4d4c" /><Relationship Type="http://schemas.openxmlformats.org/officeDocument/2006/relationships/notesSlide" Target="/ppt/notesSlides/notesSlide16.xml" Id="R0717a63f523d45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33421ece474b21" /><Relationship Type="http://schemas.openxmlformats.org/officeDocument/2006/relationships/notesSlide" Target="/ppt/notesSlides/notesSlide17.xml" Id="R5b60a43fc0054f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97a6dabda942e1" /><Relationship Type="http://schemas.openxmlformats.org/officeDocument/2006/relationships/notesSlide" Target="/ppt/notesSlides/notesSlide18.xml" Id="Re6abec06594943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a8b81c8e364d1c" /><Relationship Type="http://schemas.openxmlformats.org/officeDocument/2006/relationships/notesSlide" Target="/ppt/notesSlides/notesSlide19.xml" Id="Rf630d0caef7e40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35c80a86b7492e" /><Relationship Type="http://schemas.openxmlformats.org/officeDocument/2006/relationships/notesSlide" Target="/ppt/notesSlides/notesSlide20.xml" Id="R1227645baf1b4ea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9ee67e505b4984" /><Relationship Type="http://schemas.openxmlformats.org/officeDocument/2006/relationships/notesSlide" Target="/ppt/notesSlides/notesSlide21.xml" Id="Rb81b53c9cb9e4cdd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出國人次</c:v>
                </c:pt>
              </c:strCache>
            </c:strRef>
          </c:tx>
          <c:invertIfNegative val="1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111學年度</c:v>
                </c:pt>
                <c:pt idx="1">
                  <c:v>112學年度</c:v>
                </c:pt>
                <c:pt idx="2">
                  <c:v>113學年度</c:v>
                </c:pt>
                <c:pt idx="3">
                  <c:v>114學年度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166</c:v>
                </c:pt>
                <c:pt idx="1">
                  <c:v>174</c:v>
                </c:pt>
                <c:pt idx="2">
                  <c:v>303</c:v>
                </c:pt>
                <c:pt idx="3">
                  <c:v>382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139668992"/>
        <c:axId val="209416704"/>
      </c:barChart>
      <c:catAx>
        <c:axId val="139668992"/>
        <c:scaling>
          <c:orientation val="minMax"/>
        </c:scaling>
        <c:delete val="0"/>
        <c:axPos val="b"/>
        <c:numFmt formatCode="General"/>
        <c:majorTickMark val="out"/>
        <c:minorTickMark val="none"/>
        <c:tickLblPos val="nextTo"/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latin typeface="Microsoft JhengHei"/>
                <a:ea typeface="Microsoft JhengHei"/>
                <a:cs typeface="Microsoft JhengHei"/>
              </a:defRPr>
            </a:pPr>
          </a:p>
        </c:txPr>
        <c:crossAx val="209416704"/>
        <c:crosses val="autoZero"/>
        <c:lblAlgn val="ctr"/>
        <c:noMultiLvlLbl val="0"/>
        <c:lblOffset val="100"/>
      </c:catAx>
      <c:valAx>
        <c:axId val="209416704"/>
        <c:scaling>
          <c:orientation val="minMax"/>
          <c:max val="42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latin typeface="Microsoft JhengHei"/>
                <a:ea typeface="Microsoft JhengHei"/>
                <a:cs typeface="Microsoft JhengHei"/>
              </a:defRPr>
            </a:pPr>
          </a:p>
        </c:txPr>
        <c:crossAx val="139668992"/>
        <c:crosses val="autoZero"/>
        <c:crossBetween val="between"/>
        <c:majorUnit val="100"/>
      </c:valAx>
    </c:plotArea>
    <c:plotVisOnly val="1"/>
    <c:dispBlanksAs val="gap"/>
    <c:showDLblsOverMax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92BF38-ED55-4112-886E-06DA2175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490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E59D35B-7427-4BB3-9D64-878DA5A7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2651760" cy="252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>
                <a:latin typeface="微軟正黑體"/>
                <a:ea typeface="微軟正黑體"/>
                <a:cs typeface="微軟正黑體"/>
              </a:rPr>
              <a:t>慈濟大學</a:t>
            </a:r>
            <a:endParaRPr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97FCAC3-52AD-485B-9A53-57D09035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70432"/>
            <a:ext cx="2651760" cy="4344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000" b="1">
                <a:solidFill>
                  <a:srgbClr val="DCED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>
                <a:latin typeface="微軟正黑體"/>
                <a:ea typeface="微軟正黑體"/>
                <a:cs typeface="微軟正黑體"/>
              </a:rPr>
              <a:t>全球事務處</a:t>
            </a:r>
            <a:endParaRPr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spcAft>
                <a:spcPts val="700"/>
              </a:spcAft>
              <a:buNone/>
              <a:defRPr sz="1000" b="1">
                <a:solidFill>
                  <a:srgbClr val="DCED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>
                <a:latin typeface="微軟正黑體"/>
                <a:ea typeface="微軟正黑體"/>
                <a:cs typeface="微軟正黑體"/>
              </a:rPr>
              <a:t>交流組</a:t>
            </a:r>
            <a:endParaRPr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02311BB-3296-4653-BCD0-D72F9E6A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74519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EF3F26F-72A5-47DC-9033-B6CDF212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71600"/>
            <a:ext cx="70408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31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114學年度衣珠計畫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4582431-94FA-4AA7-8FA1-9542F6EB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212848"/>
            <a:ext cx="6949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3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成果分析與115學年度經費建議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B732BD1-3CF7-486D-ACA3-B3B8B25D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154680"/>
            <a:ext cx="6766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7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以數據看見參與機會，讓更多學生走向世界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5351595-DF4B-4C7D-BFA2-7483A7B6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5440680"/>
            <a:ext cx="69494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C141959-5BF2-444F-86E7-41C4247D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5623560"/>
            <a:ext cx="6949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全球事務處｜資料彙整：114學年度</a:t>
            </a:r>
          </a:p>
        </p:txBody>
      </p:sp>
    </p:spTree>
    <p:extLst>
      <p:ext uri="{BB962C8B-B14F-4D97-AF65-F5344CB8AC3E}">
        <p14:creationId xmlns:p14="http://schemas.microsoft.com/office/powerpoint/2010/main" val="21189713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95CF5EB-FCB1-4AC0-AAC3-20B58EAA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824B453-E737-4D81-BEDA-8FA1A8DE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5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一頁看懂｜114學年度成果重點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008E392-F5CB-46A6-84E3-53E11C2D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32104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以出國參與、完善生支持與資源配置，作為115學年度規劃依據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5B37933-E2F4-4B25-8B7F-4834CDB8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10528"/>
            <a:ext cx="110642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0F1FE9A-3892-43A9-8B34-44B82FB0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慈濟大學｜全球事務處｜114學年度衣珠計畫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C920C44-134F-45C5-946A-1535C8AA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47104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02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18E0089-8FDB-4A12-B721-2600499F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260604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6C67513-5103-46A1-9A67-25C65AC1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BA20223-503C-4577-BC17-2F275CE6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81912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382 人次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7F9226F-85DE-4443-97A4-DB5E93CA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167128"/>
            <a:ext cx="2240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4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全校出國總人次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77018BB-BE80-4B23-83A9-3362EDAE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560320"/>
            <a:ext cx="22402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0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較113學年度303人次增加79人次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4E7F7EB-F1C3-4C47-B03B-331B9DB4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417320"/>
            <a:ext cx="260604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DA32A8E-0C05-4828-8B5B-4BB177A2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908C070-73BB-450D-94B2-C4F596B0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581912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C79B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7.65%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EFE688F-A7E1-4577-A478-F69ECE2B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167128"/>
            <a:ext cx="2240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4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人次／在學人數估算比率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15CB94E-10D9-4C1D-BE10-BD1F120C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560320"/>
            <a:ext cx="22402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0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382 ÷ 4,994；非去重個人出國率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8066387-2827-485B-9B74-9D45A059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260604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912FAFF-B266-46E9-9889-3C8F8522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0B4B0A6-2031-4E7C-9627-86CEDF0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81912"/>
            <a:ext cx="2240280" cy="452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9</a:t>
            </a:r>
            <a:r>
              <a:t>9</a:t>
            </a:r>
            <a:r>
              <a:t> </a:t>
            </a:r>
            <a:r>
              <a:t>人次</a:t>
            </a: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82823F2-8D97-4265-B9DB-B886E8F4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167128"/>
            <a:ext cx="2240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4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完善生出國人次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CE8068A-EFF2-425D-A6CE-D1EF301A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560320"/>
            <a:ext cx="22402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0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約占全校出國人次25.7%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C9067716-663A-44D5-997D-478FCF78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1417320"/>
            <a:ext cx="260604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DD8DC2B-E3B4-41EB-B488-3C701FA5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B2C5192-89C5-4494-ADC5-7E7CBAE6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1581912"/>
            <a:ext cx="2240280" cy="452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C79B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115/68</a:t>
            </a: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D2F4184-EBA3-4CED-9180-7285B3B3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2167128"/>
            <a:ext cx="2240280" cy="252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4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>
                <a:latin typeface="微軟正黑體"/>
                <a:ea typeface="微軟正黑體"/>
                <a:cs typeface="微軟正黑體"/>
              </a:rPr>
              <a:t>精</a:t>
            </a:r>
            <a:r>
              <a:rPr>
                <a:latin typeface="微軟正黑體"/>
                <a:ea typeface="微軟正黑體"/>
                <a:cs typeface="微軟正黑體"/>
              </a:rPr>
              <a:t>進計劃受惠人次</a:t>
            </a:r>
            <a:endParaRPr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32D2AED-6448-4531-AFB3-596894DD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2560320"/>
            <a:ext cx="22402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0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00">
                <a:solidFill>
                  <a:srgbClr val="69747D"/>
                </a:solidFill>
                <a:latin typeface="Microsoft JhengHei"/>
                <a:ea typeface="Microsoft JhengHei"/>
                <a:cs typeface="Microsoft JhengHei"/>
              </a:rPr>
              <a:t>全校</a:t>
            </a:r>
            <a:r>
              <a:rPr sz="1000">
                <a:solidFill>
                  <a:srgbClr val="69747D"/>
                </a:solidFill>
                <a:latin typeface="Microsoft JhengHei"/>
                <a:ea typeface="Microsoft JhengHei"/>
                <a:cs typeface="Microsoft JhengHei"/>
              </a:rPr>
              <a:t>115</a:t>
            </a:r>
            <a:r>
              <a:rPr sz="1000">
                <a:solidFill>
                  <a:srgbClr val="69747D"/>
                </a:solidFill>
                <a:latin typeface="Microsoft JhengHei"/>
                <a:ea typeface="Microsoft JhengHei"/>
                <a:cs typeface="Microsoft JhengHei"/>
              </a:rPr>
              <a:t>人次；完善生</a:t>
            </a:r>
            <a:r>
              <a:rPr sz="1000">
                <a:solidFill>
                  <a:srgbClr val="69747D"/>
                </a:solidFill>
                <a:latin typeface="Microsoft JhengHei"/>
                <a:ea typeface="Microsoft JhengHei"/>
                <a:cs typeface="Microsoft JhengHei"/>
              </a:rPr>
              <a:t>68</a:t>
            </a:r>
            <a:r>
              <a:rPr sz="1000">
                <a:solidFill>
                  <a:srgbClr val="69747D"/>
                </a:solidFill>
                <a:latin typeface="Microsoft JhengHei"/>
                <a:ea typeface="Microsoft JhengHei"/>
                <a:cs typeface="Microsoft JhengHei"/>
              </a:rPr>
              <a:t>人次，占</a:t>
            </a:r>
            <a:r>
              <a:rPr sz="1000">
                <a:solidFill>
                  <a:srgbClr val="69747D"/>
                </a:solidFill>
                <a:latin typeface="Microsoft JhengHei"/>
                <a:ea typeface="Microsoft JhengHei"/>
                <a:cs typeface="Microsoft JhengHei"/>
              </a:rPr>
              <a:t>59.1</a:t>
            </a:r>
            <a:r>
              <a:rPr sz="1000">
                <a:solidFill>
                  <a:srgbClr val="69747D"/>
                </a:solidFill>
                <a:latin typeface="Microsoft JhengHei"/>
                <a:ea typeface="Microsoft JhengHei"/>
                <a:cs typeface="Microsoft JhengHei"/>
              </a:rPr>
              <a:t>%</a:t>
            </a:r>
            <a:endParaRPr sz="1000">
              <a:solidFill>
                <a:srgbClr val="69747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28C78845-CC49-4D2B-99C2-B41E2846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1088136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D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8B71F86-B21D-4EC2-B2DD-19B91EAD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39"/>
            <a:ext cx="10241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核心觀察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39C184B-B357-473B-A224-17E361AB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0560"/>
            <a:ext cx="100584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900" b="0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出國參與持續擴大；完善生占出國人次約四分之一。下一階段應把經費配置、院級參與目標與外籍生國際學習機會一併納入</a:t>
            </a:r>
            <a: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86530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D196ECD-F9D2-4016-B535-7A809306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834B9CE-252C-4283-A56F-362B34A1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5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全校出國概況｜四學年度趨勢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EFB177-FFA2-44CD-AEDD-B4A20D14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32104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111、112學年度人次依最新提供數據補入；113、114學年度延續原簡報統計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5B83361-E2D7-4372-8047-9B581E3D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10528"/>
            <a:ext cx="110642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BACF1C0-A28F-48ED-A663-B704DB9E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慈濟大學｜全球事務處｜114學年度衣珠計畫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6A91905-FC87-44AA-8184-FEE1DC26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47104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03</a:t>
            </a:r>
          </a:p>
        </p:txBody>
      </p:sp>
      <p:graphicFrame>
        <p:nvGraphicFramePr>
          <p:cNvPr id="8" name="Chart 7">
            <a:extLst xmlns:a="http://schemas.openxmlformats.org/drawingml/2006/main">
              <a:ext uri="{FF2B5EF4-FFF2-40B4-BE49-F238E27FC236}">
                <a16:creationId xmlns:a16="http://schemas.microsoft.com/office/drawing/2014/main" id="{A8FE5ABB-532E-41C0-B8C6-DFDE11B5E2B6}"/>
              </a:ext>
            </a:extLst>
          </p:cNvPr>
          <p:cNvGraphicFramePr/>
          <p:nvPr/>
        </p:nvGraphicFramePr>
        <p:xfrm>
          <a:off xmlns:a="http://schemas.openxmlformats.org/drawingml/2006/main" x="777240" y="1417320"/>
          <a:ext xmlns:a="http://schemas.openxmlformats.org/drawingml/2006/main" cx="6583680" cy="41605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fd5d55d030475d"/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820FB52-E350-4C56-B713-C9405630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91640"/>
            <a:ext cx="3474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7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成長幅度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A5AED7-5D46-4FFF-BF4F-5A87D75C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4028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0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111 → 114：+216 人次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81CE7A-A37F-4F62-BC55-C301D239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8036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0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113 → 114：+79 人次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0F03DD0-B427-43F4-BD6B-A7C01FF9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1880"/>
            <a:ext cx="33832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114學年度全校在學人數4,994人；382 ÷ 4,994 ≈ 7.65%。此為人次與在學人數估算比率，不等同去重後個人出國率。</a:t>
            </a:r>
          </a:p>
        </p:txBody>
      </p:sp>
    </p:spTree>
    <p:extLst>
      <p:ext uri="{BB962C8B-B14F-4D97-AF65-F5344CB8AC3E}">
        <p14:creationId xmlns:p14="http://schemas.microsoft.com/office/powerpoint/2010/main" val="11082859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C95974-E203-49F7-A636-39848094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EC1B840-C9CB-46C9-B8C7-952CED8A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5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出國型態｜114學年度主要參與方式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DBC31E8-06EF-488A-BF5F-E9311577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32104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志工與交流是主要類型；實習／見習人次較113學年度下降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E705063-7203-4357-A439-F5467982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10528"/>
            <a:ext cx="110642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9BD5C45-420C-4BD1-B493-D040B501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慈濟大學｜全球事務處｜114學年度衣珠計畫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C0FDB4E-9F0F-47EA-8C78-FEDC3C00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47104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AA6980D-05F3-445B-8FA2-50A777E0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2588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300" b="1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113學年度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D35C871-71AD-4FE5-B84F-C1214FF2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2588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300" b="1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114學年度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75996E-2023-4839-BFC2-4EAA7C4B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志工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6FEFA19-AC17-43E5-B867-FC53C74B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783080"/>
            <a:ext cx="297180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87BF8A0-9EB7-4638-9754-9B73B38D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783080"/>
            <a:ext cx="1624584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79B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A0D514F-5BF3-4BA2-A712-64A1B024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479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1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82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1435172-21C1-4EF3-B1F3-0EE641B6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83080"/>
            <a:ext cx="297180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20365E6-9D24-4FFA-95B2-948CD13B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83080"/>
            <a:ext cx="2793492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8A22FC8-8CF7-4700-9A9E-3B609EB5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76479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1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141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86B0D10-36E0-4915-8127-938BFAFC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69464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交流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2D50677-3B21-4450-9491-40AACE7B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569464"/>
            <a:ext cx="297180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747F552-BAC7-4E55-BADB-3E902CC0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569464"/>
            <a:ext cx="1010412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79B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5C0AFCE-3F96-426C-B8D2-5B6D292C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51176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1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51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4B9D97C-CC4D-4DB9-A2A8-D028BA0A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569464"/>
            <a:ext cx="297180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AAB1EA17-4443-4BAE-BEFA-ADB97AE5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569464"/>
            <a:ext cx="2397252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4DAF677-D52D-4990-A843-CD0DB8AB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551176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1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121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79F0FCE-03FE-4578-8E61-A315584A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實習／見習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DAC0C8D-6CD4-46A4-937C-79EB6E4C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355848"/>
            <a:ext cx="297180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720F2CAD-0F03-4E76-9618-EEE3777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355848"/>
            <a:ext cx="267462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79B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FF146BB-F626-4313-B508-CC3DF69D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756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1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135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D1BDFF5D-75D8-4200-B7E1-F62F85AF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355848"/>
            <a:ext cx="297180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AD1AF41B-0F4B-4ED3-BD6C-959A6FF3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355848"/>
            <a:ext cx="1743456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7340835-BBB9-44DF-BF8D-4E922B47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333756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1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88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679C4BFA-223F-4D54-B383-A57E5D21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42232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交換／雙聯／三聯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DB41B06D-3317-4C2D-BFA2-7C5D2229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4142232"/>
            <a:ext cx="297180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80D8883F-CAE0-4C55-AF04-C5277159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4142232"/>
            <a:ext cx="257556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79B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9C189F9-18C2-453E-A65D-840930A8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23944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1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13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480151D7-D8FA-4CE7-9AD5-B694FDE4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142232"/>
            <a:ext cx="297180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D99E1B53-7DF4-44D6-A2D2-9234A416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142232"/>
            <a:ext cx="316992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FB73C4C-50B8-4923-84C8-A8FAFD9F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4123944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1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40B6B530-906B-48B7-A57F-60CD8897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28616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其他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C1ED9E50-7812-420A-8EA9-56152A94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4928616"/>
            <a:ext cx="297180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E7907691-AA60-4073-AAC6-3B005BB3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4928616"/>
            <a:ext cx="435864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79B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B766068A-F327-4BBD-ACCF-E39158F5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1032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1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22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3FEEDB81-CF36-46DD-8254-ED543914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928616"/>
            <a:ext cx="297180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3338DE67-2618-44DE-AD09-F72027C4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928616"/>
            <a:ext cx="316992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8D027EDF-8164-41BB-8542-E30BF761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491032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1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1BC95F7-5C6A-4000-B3B9-D79B44E2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4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主要變化：志工 +59｜交流 +70｜實習／見習 −47｜交換類 +3｜其他 −6</a:t>
            </a:r>
          </a:p>
        </p:txBody>
      </p:sp>
    </p:spTree>
    <p:extLst>
      <p:ext uri="{BB962C8B-B14F-4D97-AF65-F5344CB8AC3E}">
        <p14:creationId xmlns:p14="http://schemas.microsoft.com/office/powerpoint/2010/main" val="1485985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左側識別線">
            <a:extLst xmlns:a="http://schemas.openxmlformats.org/drawingml/2006/main">
              <a:ext uri="{FF2B5EF4-FFF2-40B4-BE49-F238E27FC236}">
                <a16:creationId xmlns:a16="http://schemas.microsoft.com/office/drawing/2014/main" id="{DC8D380E-9A3D-4005-979C-CA5017CE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標題">
            <a:extLst xmlns:a="http://schemas.openxmlformats.org/drawingml/2006/main">
              <a:ext uri="{FF2B5EF4-FFF2-40B4-BE49-F238E27FC236}">
                <a16:creationId xmlns:a16="http://schemas.microsoft.com/office/drawing/2014/main" id="{A771DA4B-625E-410B-BFEC-9416A092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00" b="1">
                <a:solidFill>
                  <a:srgbClr val="1C5B46"/>
                </a:solidFill>
              </a:defRPr>
            </a:defPPr>
            <a:lvl1pPr algn="l">
              <a:defRPr sz="2500" b="1">
                <a:solidFill>
                  <a:srgbClr val="1C5B46"/>
                </a:solidFill>
              </a:defRPr>
            </a:lvl1pPr>
            <a:lvl2pPr algn="l">
              <a:defRPr sz="2500" b="1">
                <a:solidFill>
                  <a:srgbClr val="1C5B46"/>
                </a:solidFill>
              </a:defRPr>
            </a:lvl2pPr>
            <a:lvl3pPr algn="l">
              <a:defRPr sz="2500" b="1">
                <a:solidFill>
                  <a:srgbClr val="1C5B46"/>
                </a:solidFill>
              </a:defRPr>
            </a:lvl3pPr>
            <a:lvl4pPr algn="l">
              <a:defRPr sz="2500" b="1">
                <a:solidFill>
                  <a:srgbClr val="1C5B46"/>
                </a:solidFill>
              </a:defRPr>
            </a:lvl4pPr>
            <a:lvl5pPr algn="l">
              <a:defRPr sz="2500" b="1">
                <a:solidFill>
                  <a:srgbClr val="1C5B46"/>
                </a:solidFill>
              </a:defRPr>
            </a:lvl5pPr>
            <a:lvl6pPr algn="l">
              <a:defRPr sz="2500" b="1">
                <a:solidFill>
                  <a:srgbClr val="1C5B46"/>
                </a:solidFill>
              </a:defRPr>
            </a:lvl6pPr>
            <a:lvl7pPr algn="l">
              <a:defRPr sz="2500" b="1">
                <a:solidFill>
                  <a:srgbClr val="1C5B46"/>
                </a:solidFill>
              </a:defRPr>
            </a:lvl7pPr>
            <a:lvl8pPr algn="l">
              <a:defRPr sz="2500" b="1">
                <a:solidFill>
                  <a:srgbClr val="1C5B46"/>
                </a:solidFill>
              </a:defRPr>
            </a:lvl8pPr>
            <a:lvl9pPr algn="l">
              <a:defRPr sz="2500" b="1">
                <a:solidFill>
                  <a:srgbClr val="1C5B46"/>
                </a:solidFill>
              </a:defRPr>
            </a:lvl9pPr>
          </a:lstStyle>
          <a:p xmlns:a="http://schemas.openxmlformats.org/drawingml/2006/main">
            <a:pPr algn="l">
              <a:defRPr sz="2500" b="1">
                <a:solidFill>
                  <a:srgbClr val="1C5B46"/>
                </a:solidFill>
              </a:defRPr>
            </a:pPr>
            <a:r>
              <a:rPr sz="2500" b="1">
                <a:solidFill>
                  <a:srgbClr val="1C5B46"/>
                </a:solidFill>
              </a:rPr>
              <a:t>出國身分別結構｜原住民人次成長最明顯</a:t>
            </a:r>
          </a:p>
        </p:txBody>
      </p:sp>
      <p:sp>
        <p:nvSpPr>
          <p:cNvPr id="3" name="副標題">
            <a:extLst xmlns:a="http://schemas.openxmlformats.org/drawingml/2006/main">
              <a:ext uri="{FF2B5EF4-FFF2-40B4-BE49-F238E27FC236}">
                <a16:creationId xmlns:a16="http://schemas.microsoft.com/office/drawing/2014/main" id="{530271F3-2B96-429A-9384-ADD4240C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32104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>
                <a:solidFill>
                  <a:srgbClr val="5F6B65"/>
                </a:solidFill>
              </a:defRPr>
            </a:defPPr>
            <a:lvl1pPr algn="l">
              <a:defRPr sz="1200">
                <a:solidFill>
                  <a:srgbClr val="5F6B65"/>
                </a:solidFill>
              </a:defRPr>
            </a:lvl1pPr>
            <a:lvl2pPr algn="l">
              <a:defRPr sz="1200">
                <a:solidFill>
                  <a:srgbClr val="5F6B65"/>
                </a:solidFill>
              </a:defRPr>
            </a:lvl2pPr>
            <a:lvl3pPr algn="l">
              <a:defRPr sz="1200">
                <a:solidFill>
                  <a:srgbClr val="5F6B65"/>
                </a:solidFill>
              </a:defRPr>
            </a:lvl3pPr>
            <a:lvl4pPr algn="l">
              <a:defRPr sz="1200">
                <a:solidFill>
                  <a:srgbClr val="5F6B65"/>
                </a:solidFill>
              </a:defRPr>
            </a:lvl4pPr>
            <a:lvl5pPr algn="l">
              <a:defRPr sz="1200">
                <a:solidFill>
                  <a:srgbClr val="5F6B65"/>
                </a:solidFill>
              </a:defRPr>
            </a:lvl5pPr>
            <a:lvl6pPr algn="l">
              <a:defRPr sz="1200">
                <a:solidFill>
                  <a:srgbClr val="5F6B65"/>
                </a:solidFill>
              </a:defRPr>
            </a:lvl6pPr>
            <a:lvl7pPr algn="l">
              <a:defRPr sz="1200">
                <a:solidFill>
                  <a:srgbClr val="5F6B65"/>
                </a:solidFill>
              </a:defRPr>
            </a:lvl7pPr>
            <a:lvl8pPr algn="l">
              <a:defRPr sz="1200">
                <a:solidFill>
                  <a:srgbClr val="5F6B65"/>
                </a:solidFill>
              </a:defRPr>
            </a:lvl8pPr>
            <a:lvl9pPr algn="l">
              <a:defRPr sz="1200">
                <a:solidFill>
                  <a:srgbClr val="5F6B65"/>
                </a:solidFill>
              </a:defRPr>
            </a:lvl9pPr>
          </a:lstStyle>
          <a:p xmlns:a="http://schemas.openxmlformats.org/drawingml/2006/main">
            <a:pPr algn="l">
              <a:defRPr sz="1200">
                <a:solidFill>
                  <a:srgbClr val="5F6B65"/>
                </a:solidFill>
              </a:defRPr>
            </a:pPr>
            <a:r>
              <a:rPr sz="1200">
                <a:solidFill>
                  <a:srgbClr val="5F6B65"/>
                </a:solidFill>
              </a:rPr>
              <a:t>以人次比較113與114學年度，三類身分均增加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04B2F-5CDC-443A-A0E7-35122AD03CA2}"/>
              </a:ext>
            </a:extLst>
          </p:cNvPr>
          <p:cNvGraphicFramePr/>
          <p:nvPr/>
        </p:nvGraphicFramePr>
        <p:xfrm>
          <a:off xmlns:a="http://schemas.openxmlformats.org/drawingml/2006/main" x="666750" y="1504950"/>
          <a:ext xmlns:a="http://schemas.openxmlformats.org/drawingml/2006/main" cx="108585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809750"/>
                <a:gridCol w="1809750"/>
                <a:gridCol w="1809750"/>
                <a:gridCol w="2667000"/>
              </a:tblGrid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身分類別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5DED8"/>
                      </a:solidFill>
                      <a:prstDash val="solid"/>
                    </a:lnL>
                    <a:lnR w="9525">
                      <a:solidFill>
                        <a:srgbClr val="D5DED8"/>
                      </a:solidFill>
                      <a:prstDash val="solid"/>
                    </a:lnR>
                    <a:lnT w="9525">
                      <a:solidFill>
                        <a:srgbClr val="D5DED8"/>
                      </a:solidFill>
                      <a:prstDash val="solid"/>
                    </a:lnT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1C5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113學年度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人次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T w="9525">
                      <a:solidFill>
                        <a:srgbClr val="D5DED8"/>
                      </a:solidFill>
                      <a:prstDash val="solid"/>
                    </a:lnT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1C5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114學年度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人次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T w="9525">
                      <a:solidFill>
                        <a:srgbClr val="D5DED8"/>
                      </a:solidFill>
                      <a:prstDash val="solid"/>
                    </a:lnT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1C5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增減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人次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T w="9525">
                      <a:solidFill>
                        <a:srgbClr val="D5DED8"/>
                      </a:solidFill>
                      <a:prstDash val="solid"/>
                    </a:lnT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1C5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成長率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T w="9525">
                      <a:solidFill>
                        <a:srgbClr val="D5DED8"/>
                      </a:solidFill>
                      <a:prstDash val="solid"/>
                    </a:lnT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1C5B46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23930"/>
                          </a:solidFill>
                        </a:rPr>
                        <a:t>原住民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5DED8"/>
                      </a:solidFill>
                      <a:prstDash val="solid"/>
                    </a:lnL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3930"/>
                          </a:solidFill>
                        </a:rPr>
                        <a:t>8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3930"/>
                          </a:solidFill>
                        </a:rPr>
                        <a:t>53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7A4E00"/>
                          </a:solidFill>
                        </a:rPr>
                        <a:t>+45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0D5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7A4E00"/>
                          </a:solidFill>
                        </a:rPr>
                        <a:t>+562.5%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0D596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23930"/>
                          </a:solidFill>
                        </a:rPr>
                        <a:t>其他弱勢</a:t>
                      </a:r>
                    </a:p>
                    <a:p>
                      <a:pPr algn="l"/>
                      <a:r>
                        <a:rPr sz="1425" b="1">
                          <a:solidFill>
                            <a:srgbClr val="223930"/>
                          </a:solidFill>
                        </a:rPr>
                        <a:t>（114：完善生）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5DED8"/>
                      </a:solidFill>
                      <a:prstDash val="solid"/>
                    </a:lnL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3930"/>
                          </a:solidFill>
                        </a:rPr>
                        <a:t>33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3930"/>
                          </a:solidFill>
                        </a:rPr>
                        <a:t>46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3930"/>
                          </a:solidFill>
                        </a:rPr>
                        <a:t>+13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C5B46"/>
                          </a:solidFill>
                        </a:rPr>
                        <a:t>+39.4%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23930"/>
                          </a:solidFill>
                        </a:rPr>
                        <a:t>一般身分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5DED8"/>
                      </a:solidFill>
                      <a:prstDash val="solid"/>
                    </a:lnL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3930"/>
                          </a:solidFill>
                        </a:rPr>
                        <a:t>260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3930"/>
                          </a:solidFill>
                        </a:rPr>
                        <a:t>283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3930"/>
                          </a:solidFill>
                        </a:rPr>
                        <a:t>+23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3930"/>
                          </a:solidFill>
                        </a:rPr>
                        <a:t>+8.8%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23930"/>
                          </a:solidFill>
                        </a:rPr>
                        <a:t>總計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5DED8"/>
                      </a:solidFill>
                      <a:prstDash val="solid"/>
                    </a:lnL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DCED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C5B46"/>
                          </a:solidFill>
                        </a:rPr>
                        <a:t>301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DCED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C5B46"/>
                          </a:solidFill>
                        </a:rPr>
                        <a:t>382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DCED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C5B46"/>
                          </a:solidFill>
                        </a:rPr>
                        <a:t>+81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DCED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C5B46"/>
                          </a:solidFill>
                        </a:rPr>
                        <a:t>+26.9%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DED8"/>
                      </a:solidFill>
                      <a:prstDash val="solid"/>
                    </a:lnR>
                    <a:lnB w="9525">
                      <a:solidFill>
                        <a:srgbClr val="D5DED8"/>
                      </a:solidFill>
                      <a:prstDash val="solid"/>
                    </a:lnB>
                    <a:solidFill>
                      <a:srgbClr val="DCEDE1"/>
                    </a:solidFill>
                  </a:tcPr>
                </a:tc>
              </a:tr>
            </a:tbl>
          </a:graphicData>
        </a:graphic>
      </p:graphicFrame>
      <p:sp>
        <p:nvSpPr>
          <p:cNvPr id="5" name="重點摘要底色">
            <a:extLst xmlns:a="http://schemas.openxmlformats.org/drawingml/2006/main">
              <a:ext uri="{FF2B5EF4-FFF2-40B4-BE49-F238E27FC236}">
                <a16:creationId xmlns:a16="http://schemas.microsoft.com/office/drawing/2014/main" id="{410DF466-7F87-407B-B0AA-6F3E7E00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1085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8"/>
            </a:solidFill>
            <a:prstDash val="solid"/>
          </a:ln>
        </p:spPr>
      </p:sp>
      <p:sp>
        <p:nvSpPr>
          <p:cNvPr id="6" name="重點標籤">
            <a:extLst xmlns:a="http://schemas.openxmlformats.org/drawingml/2006/main">
              <a:ext uri="{FF2B5EF4-FFF2-40B4-BE49-F238E27FC236}">
                <a16:creationId xmlns:a16="http://schemas.microsoft.com/office/drawing/2014/main" id="{4790ADA7-DCBE-4626-80A1-1596A270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C18A25"/>
                </a:solidFill>
              </a:defRPr>
            </a:defPPr>
            <a:lvl1pPr algn="l">
              <a:defRPr sz="1350" b="1">
                <a:solidFill>
                  <a:srgbClr val="C18A25"/>
                </a:solidFill>
              </a:defRPr>
            </a:lvl1pPr>
            <a:lvl2pPr algn="l">
              <a:defRPr sz="1350" b="1">
                <a:solidFill>
                  <a:srgbClr val="C18A25"/>
                </a:solidFill>
              </a:defRPr>
            </a:lvl2pPr>
            <a:lvl3pPr algn="l">
              <a:defRPr sz="1350" b="1">
                <a:solidFill>
                  <a:srgbClr val="C18A25"/>
                </a:solidFill>
              </a:defRPr>
            </a:lvl3pPr>
            <a:lvl4pPr algn="l">
              <a:defRPr sz="1350" b="1">
                <a:solidFill>
                  <a:srgbClr val="C18A25"/>
                </a:solidFill>
              </a:defRPr>
            </a:lvl4pPr>
            <a:lvl5pPr algn="l">
              <a:defRPr sz="1350" b="1">
                <a:solidFill>
                  <a:srgbClr val="C18A25"/>
                </a:solidFill>
              </a:defRPr>
            </a:lvl5pPr>
            <a:lvl6pPr algn="l">
              <a:defRPr sz="1350" b="1">
                <a:solidFill>
                  <a:srgbClr val="C18A25"/>
                </a:solidFill>
              </a:defRPr>
            </a:lvl6pPr>
            <a:lvl7pPr algn="l">
              <a:defRPr sz="1350" b="1">
                <a:solidFill>
                  <a:srgbClr val="C18A25"/>
                </a:solidFill>
              </a:defRPr>
            </a:lvl7pPr>
            <a:lvl8pPr algn="l">
              <a:defRPr sz="1350" b="1">
                <a:solidFill>
                  <a:srgbClr val="C18A25"/>
                </a:solidFill>
              </a:defRPr>
            </a:lvl8pPr>
            <a:lvl9pPr algn="l">
              <a:defRPr sz="1350" b="1">
                <a:solidFill>
                  <a:srgbClr val="C18A2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18A25"/>
                </a:solidFill>
              </a:defRPr>
            </a:pPr>
            <a:r>
              <a:rPr sz="1350" b="1">
                <a:solidFill>
                  <a:srgbClr val="C18A25"/>
                </a:solidFill>
              </a:rPr>
              <a:t>成長差異</a:t>
            </a:r>
          </a:p>
        </p:txBody>
      </p:sp>
      <p:sp>
        <p:nvSpPr>
          <p:cNvPr id="7" name="重點說明">
            <a:extLst xmlns:a="http://schemas.openxmlformats.org/drawingml/2006/main">
              <a:ext uri="{FF2B5EF4-FFF2-40B4-BE49-F238E27FC236}">
                <a16:creationId xmlns:a16="http://schemas.microsoft.com/office/drawing/2014/main" id="{2B4E15A3-1466-4170-915C-1FD36C1D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72075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223930"/>
                </a:solidFill>
              </a:defRPr>
            </a:defPPr>
            <a:lvl1pPr algn="l">
              <a:defRPr sz="1650" b="1">
                <a:solidFill>
                  <a:srgbClr val="223930"/>
                </a:solidFill>
              </a:defRPr>
            </a:lvl1pPr>
            <a:lvl2pPr algn="l">
              <a:defRPr sz="1650" b="1">
                <a:solidFill>
                  <a:srgbClr val="223930"/>
                </a:solidFill>
              </a:defRPr>
            </a:lvl2pPr>
            <a:lvl3pPr algn="l">
              <a:defRPr sz="1650" b="1">
                <a:solidFill>
                  <a:srgbClr val="223930"/>
                </a:solidFill>
              </a:defRPr>
            </a:lvl3pPr>
            <a:lvl4pPr algn="l">
              <a:defRPr sz="1650" b="1">
                <a:solidFill>
                  <a:srgbClr val="223930"/>
                </a:solidFill>
              </a:defRPr>
            </a:lvl4pPr>
            <a:lvl5pPr algn="l">
              <a:defRPr sz="1650" b="1">
                <a:solidFill>
                  <a:srgbClr val="223930"/>
                </a:solidFill>
              </a:defRPr>
            </a:lvl5pPr>
            <a:lvl6pPr algn="l">
              <a:defRPr sz="1650" b="1">
                <a:solidFill>
                  <a:srgbClr val="223930"/>
                </a:solidFill>
              </a:defRPr>
            </a:lvl6pPr>
            <a:lvl7pPr algn="l">
              <a:defRPr sz="1650" b="1">
                <a:solidFill>
                  <a:srgbClr val="223930"/>
                </a:solidFill>
              </a:defRPr>
            </a:lvl7pPr>
            <a:lvl8pPr algn="l">
              <a:defRPr sz="1650" b="1">
                <a:solidFill>
                  <a:srgbClr val="223930"/>
                </a:solidFill>
              </a:defRPr>
            </a:lvl8pPr>
            <a:lvl9pPr algn="l">
              <a:defRPr sz="1650" b="1">
                <a:solidFill>
                  <a:srgbClr val="223930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23930"/>
                </a:solidFill>
              </a:defRPr>
            </a:pPr>
            <a:r>
              <a:rPr sz="1650" b="1">
                <a:solidFill>
                  <a:srgbClr val="223930"/>
                </a:solidFill>
              </a:rPr>
              <a:t>原住民增加45人次，成長562.5%，增幅遠高於其他弱勢39.4%與一般身分8.8%。</a:t>
            </a:r>
          </a:p>
        </p:txBody>
      </p:sp>
      <p:sp>
        <p:nvSpPr>
          <p:cNvPr id="8" name="口徑說明">
            <a:extLst xmlns:a="http://schemas.openxmlformats.org/drawingml/2006/main">
              <a:ext uri="{FF2B5EF4-FFF2-40B4-BE49-F238E27FC236}">
                <a16:creationId xmlns:a16="http://schemas.microsoft.com/office/drawing/2014/main" id="{D1B876A2-13FD-4134-B26E-8B32AB1E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007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>
                <a:solidFill>
                  <a:srgbClr val="5F6B65"/>
                </a:solidFill>
              </a:defRPr>
            </a:defPPr>
            <a:lvl1pPr algn="l">
              <a:defRPr sz="1050">
                <a:solidFill>
                  <a:srgbClr val="5F6B65"/>
                </a:solidFill>
              </a:defRPr>
            </a:lvl1pPr>
            <a:lvl2pPr algn="l">
              <a:defRPr sz="1050">
                <a:solidFill>
                  <a:srgbClr val="5F6B65"/>
                </a:solidFill>
              </a:defRPr>
            </a:lvl2pPr>
            <a:lvl3pPr algn="l">
              <a:defRPr sz="1050">
                <a:solidFill>
                  <a:srgbClr val="5F6B65"/>
                </a:solidFill>
              </a:defRPr>
            </a:lvl3pPr>
            <a:lvl4pPr algn="l">
              <a:defRPr sz="1050">
                <a:solidFill>
                  <a:srgbClr val="5F6B65"/>
                </a:solidFill>
              </a:defRPr>
            </a:lvl4pPr>
            <a:lvl5pPr algn="l">
              <a:defRPr sz="1050">
                <a:solidFill>
                  <a:srgbClr val="5F6B65"/>
                </a:solidFill>
              </a:defRPr>
            </a:lvl5pPr>
            <a:lvl6pPr algn="l">
              <a:defRPr sz="1050">
                <a:solidFill>
                  <a:srgbClr val="5F6B65"/>
                </a:solidFill>
              </a:defRPr>
            </a:lvl6pPr>
            <a:lvl7pPr algn="l">
              <a:defRPr sz="1050">
                <a:solidFill>
                  <a:srgbClr val="5F6B65"/>
                </a:solidFill>
              </a:defRPr>
            </a:lvl7pPr>
            <a:lvl8pPr algn="l">
              <a:defRPr sz="1050">
                <a:solidFill>
                  <a:srgbClr val="5F6B65"/>
                </a:solidFill>
              </a:defRPr>
            </a:lvl8pPr>
            <a:lvl9pPr algn="l">
              <a:defRPr sz="1050">
                <a:solidFill>
                  <a:srgbClr val="5F6B65"/>
                </a:solidFill>
              </a:defRPr>
            </a:lvl9pPr>
          </a:lstStyle>
          <a:p xmlns:a="http://schemas.openxmlformats.org/drawingml/2006/main">
            <a:pPr algn="l">
              <a:defRPr sz="1050">
                <a:solidFill>
                  <a:srgbClr val="5F6B65"/>
                </a:solidFill>
              </a:defRPr>
            </a:pPr>
            <a:r>
              <a:rPr sz="1050">
                <a:solidFill>
                  <a:srgbClr val="5F6B65"/>
                </a:solidFill>
              </a:rPr>
              <a:t>註：114學年度「其他弱勢」採其他弱勢完善生口徑；數據為人次，非去重人數。</a:t>
            </a:r>
          </a:p>
        </p:txBody>
      </p:sp>
      <p:sp>
        <p:nvSpPr>
          <p:cNvPr id="9" name="頁尾分隔線">
            <a:extLst xmlns:a="http://schemas.openxmlformats.org/drawingml/2006/main">
              <a:ext uri="{FF2B5EF4-FFF2-40B4-BE49-F238E27FC236}">
                <a16:creationId xmlns:a16="http://schemas.microsoft.com/office/drawing/2014/main" id="{8EE8ADDB-D8F7-4F0B-86B8-76CB75E2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10528"/>
            <a:ext cx="11064240" cy="109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頁尾">
            <a:extLst xmlns:a="http://schemas.openxmlformats.org/drawingml/2006/main">
              <a:ext uri="{FF2B5EF4-FFF2-40B4-BE49-F238E27FC236}">
                <a16:creationId xmlns:a16="http://schemas.microsoft.com/office/drawing/2014/main" id="{2928A85A-678D-46B3-9BA0-2153EFC4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800">
                <a:solidFill>
                  <a:srgbClr val="5F6B65"/>
                </a:solidFill>
              </a:defRPr>
            </a:defPPr>
            <a:lvl1pPr algn="l">
              <a:defRPr sz="800">
                <a:solidFill>
                  <a:srgbClr val="5F6B65"/>
                </a:solidFill>
              </a:defRPr>
            </a:lvl1pPr>
            <a:lvl2pPr algn="l">
              <a:defRPr sz="800">
                <a:solidFill>
                  <a:srgbClr val="5F6B65"/>
                </a:solidFill>
              </a:defRPr>
            </a:lvl2pPr>
            <a:lvl3pPr algn="l">
              <a:defRPr sz="800">
                <a:solidFill>
                  <a:srgbClr val="5F6B65"/>
                </a:solidFill>
              </a:defRPr>
            </a:lvl3pPr>
            <a:lvl4pPr algn="l">
              <a:defRPr sz="800">
                <a:solidFill>
                  <a:srgbClr val="5F6B65"/>
                </a:solidFill>
              </a:defRPr>
            </a:lvl4pPr>
            <a:lvl5pPr algn="l">
              <a:defRPr sz="800">
                <a:solidFill>
                  <a:srgbClr val="5F6B65"/>
                </a:solidFill>
              </a:defRPr>
            </a:lvl5pPr>
            <a:lvl6pPr algn="l">
              <a:defRPr sz="800">
                <a:solidFill>
                  <a:srgbClr val="5F6B65"/>
                </a:solidFill>
              </a:defRPr>
            </a:lvl6pPr>
            <a:lvl7pPr algn="l">
              <a:defRPr sz="800">
                <a:solidFill>
                  <a:srgbClr val="5F6B65"/>
                </a:solidFill>
              </a:defRPr>
            </a:lvl7pPr>
            <a:lvl8pPr algn="l">
              <a:defRPr sz="800">
                <a:solidFill>
                  <a:srgbClr val="5F6B65"/>
                </a:solidFill>
              </a:defRPr>
            </a:lvl8pPr>
            <a:lvl9pPr algn="l">
              <a:defRPr sz="800">
                <a:solidFill>
                  <a:srgbClr val="5F6B65"/>
                </a:solidFill>
              </a:defRPr>
            </a:lvl9pPr>
          </a:lstStyle>
          <a:p xmlns:a="http://schemas.openxmlformats.org/drawingml/2006/main">
            <a:pPr algn="l">
              <a:defRPr sz="800">
                <a:solidFill>
                  <a:srgbClr val="5F6B65"/>
                </a:solidFill>
              </a:defRPr>
            </a:pPr>
            <a:r>
              <a:rPr sz="800">
                <a:solidFill>
                  <a:srgbClr val="5F6B65"/>
                </a:solidFill>
              </a:rPr>
              <a:t>慈濟大學｜全球事務處｜114學年度衣珠計畫</a:t>
            </a:r>
          </a:p>
        </p:txBody>
      </p:sp>
      <p:sp>
        <p:nvSpPr>
          <p:cNvPr id="11" name="頁碼">
            <a:extLst xmlns:a="http://schemas.openxmlformats.org/drawingml/2006/main">
              <a:ext uri="{FF2B5EF4-FFF2-40B4-BE49-F238E27FC236}">
                <a16:creationId xmlns:a16="http://schemas.microsoft.com/office/drawing/2014/main" id="{30AD9C6A-E30F-46E0-AF85-DFFBD0DB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47104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5F6B65"/>
                </a:solidFill>
              </a:defRPr>
            </a:defPPr>
            <a:lvl1pPr algn="r">
              <a:defRPr sz="900">
                <a:solidFill>
                  <a:srgbClr val="5F6B65"/>
                </a:solidFill>
              </a:defRPr>
            </a:lvl1pPr>
            <a:lvl2pPr algn="r">
              <a:defRPr sz="900">
                <a:solidFill>
                  <a:srgbClr val="5F6B65"/>
                </a:solidFill>
              </a:defRPr>
            </a:lvl2pPr>
            <a:lvl3pPr algn="r">
              <a:defRPr sz="900">
                <a:solidFill>
                  <a:srgbClr val="5F6B65"/>
                </a:solidFill>
              </a:defRPr>
            </a:lvl3pPr>
            <a:lvl4pPr algn="r">
              <a:defRPr sz="900">
                <a:solidFill>
                  <a:srgbClr val="5F6B65"/>
                </a:solidFill>
              </a:defRPr>
            </a:lvl4pPr>
            <a:lvl5pPr algn="r">
              <a:defRPr sz="900">
                <a:solidFill>
                  <a:srgbClr val="5F6B65"/>
                </a:solidFill>
              </a:defRPr>
            </a:lvl5pPr>
            <a:lvl6pPr algn="r">
              <a:defRPr sz="900">
                <a:solidFill>
                  <a:srgbClr val="5F6B65"/>
                </a:solidFill>
              </a:defRPr>
            </a:lvl6pPr>
            <a:lvl7pPr algn="r">
              <a:defRPr sz="900">
                <a:solidFill>
                  <a:srgbClr val="5F6B65"/>
                </a:solidFill>
              </a:defRPr>
            </a:lvl7pPr>
            <a:lvl8pPr algn="r">
              <a:defRPr sz="900">
                <a:solidFill>
                  <a:srgbClr val="5F6B65"/>
                </a:solidFill>
              </a:defRPr>
            </a:lvl8pPr>
            <a:lvl9pPr algn="r">
              <a:defRPr sz="900">
                <a:solidFill>
                  <a:srgbClr val="5F6B65"/>
                </a:solidFill>
              </a:defRPr>
            </a:lvl9pPr>
          </a:lstStyle>
          <a:p xmlns:a="http://schemas.openxmlformats.org/drawingml/2006/main">
            <a:pPr algn="r">
              <a:defRPr sz="900">
                <a:solidFill>
                  <a:srgbClr val="5F6B65"/>
                </a:solidFill>
              </a:defRPr>
            </a:pPr>
            <a:r>
              <a:rPr sz="900">
                <a:solidFill>
                  <a:srgbClr val="5F6B6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1930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8667892-D505-4302-8348-FFADE63C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BE0BEE0-2ACF-4E99-8178-93D5CE7A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5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精進計畫｜讓支持轉化為實際出國機會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D78C189-4CCD-4BEC-A605-C39919D2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32104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補助成效建議同時追蹤總受惠人次、完善生占比與實際學習成果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F7A4864-84CE-4EE1-BEB9-D88AE904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10528"/>
            <a:ext cx="110642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71E8F21-09F1-4D89-86EE-0D03E9CB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慈濟大學｜全球事務處｜114學年度衣珠計畫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7619CD5-09D8-48CA-888D-A7F0E198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47104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06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AC4ED90-3188-4502-968A-6B636F7D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315468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27B0913-70B2-4607-9EC5-1F1D1216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344C4DE-54C8-4063-8D65-F647B522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719072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115 人次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07B2029-C982-4B81-A5F9-27B31B37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2788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4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精進計畫受惠總人次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A7198A5-09DF-467A-A760-7E087132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697480"/>
            <a:ext cx="27889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0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114學年度計畫成果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600597C-FEDB-473B-AB6A-D491AF26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54480"/>
            <a:ext cx="315468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86837E2-3376-4B10-9298-B48E16F1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5448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C7537BB-DA25-42CF-9AC0-135362EA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719072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C79B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68 人次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78B04-5EB8-45AA-B346-1E46D9B8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304288"/>
            <a:ext cx="2788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4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其中完善生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D3A11F5-E552-420C-8C59-85AD3C9C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697480"/>
            <a:ext cx="27889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0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占精進計畫受惠人次59.1%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A7B4D08-70AB-4FAD-B981-AB74A454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554480"/>
            <a:ext cx="315468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8AF44F9-BC72-4D4D-8640-FF0C27C7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55448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E3FC2E3-3AD6-4653-A05E-46B3D016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1719072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46 人次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0B5A335-5E5F-4FCA-9FAC-60E55E71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304288"/>
            <a:ext cx="2788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4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原住民學生受支持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6547313-3CF9-4B4E-BE8A-B21E4E04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697480"/>
            <a:ext cx="27889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0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占原住民出國53人次約86.8%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7B9FF3EC-7859-444E-9515-889B7765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39"/>
            <a:ext cx="105613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D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76F26AF-AD1F-4CAF-BC8C-559D5F4A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51960"/>
            <a:ext cx="9966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0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建議：保留精進計畫對經濟不利學生的支持，同時將「出國人次」與「去重學生數」分開統計，避免重複計算並呈現真實觸及情形。</a:t>
            </a:r>
          </a:p>
        </p:txBody>
      </p:sp>
    </p:spTree>
    <p:extLst>
      <p:ext uri="{BB962C8B-B14F-4D97-AF65-F5344CB8AC3E}">
        <p14:creationId xmlns:p14="http://schemas.microsoft.com/office/powerpoint/2010/main" val="3761716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433DAB-4D0D-49F9-A35B-BD66CC5C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2E89EA4-D072-4473-B900-C690A5D2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5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各院出國參與｜出國人次與完善生人次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6192F66-5E35-4C90-BEFF-D5613EB6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32104"/>
            <a:ext cx="10972800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依提供數據彙整；全校合計382人次，其中完善生</a:t>
            </a:r>
            <a:r>
              <a:t>9</a:t>
            </a:r>
            <a:r>
              <a:t>9</a:t>
            </a:r>
            <a:r>
              <a:t>人次</a:t>
            </a:r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D0914E-2019-4C97-87CB-433BF77F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10528"/>
            <a:ext cx="110642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1BE6A8A-B9C5-4073-BD72-54131FAB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慈濟大學｜全球事務處｜114學年度衣珠計畫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1671569-1795-4CD6-A65A-F3009C70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47104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07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23B399E-F8D2-4913-9EF5-F4F97CBB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310896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E128F72-1C41-4CA0-AED2-8A57D500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618488"/>
            <a:ext cx="29626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學院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48B7A2F-B7AD-44ED-9483-DA6DE829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508760"/>
            <a:ext cx="256032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0A50FA5-115E-4AC8-9350-E647B22E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1618488"/>
            <a:ext cx="241401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出國人次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7589B00-B431-4A12-AA9D-85B8FD14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508760"/>
            <a:ext cx="256032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2F53D0B-2930-4778-9543-40708E31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618488"/>
            <a:ext cx="241401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完善生人次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3070DD5-0D67-48A9-A511-BE90CB22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508760"/>
            <a:ext cx="15544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097DB28-71FD-492B-8D27-0B4DF4B6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1618488"/>
            <a:ext cx="1408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完善生占比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5B44DB9-035D-4D88-92D6-0BDDF40B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30552"/>
            <a:ext cx="1051560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02CB685-EEE4-496F-9D43-9FC7FF49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24028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3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人社院</a:t>
            </a: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207262D-1AF6-493E-917E-16D28599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24028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88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BC05AFE-CD72-444E-A33E-7F4DAEA4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24028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E0C45CF-10A9-44E3-BDB6-8401FBF7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24028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2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14.8%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524FC7CA-A919-429F-8FF2-1A197D6C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88920"/>
            <a:ext cx="1051560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1C39807-DC1F-49F3-A686-6A37B9D7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898648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3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工學院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3A95A1E-0BB5-4209-A19E-23424FE4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89864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24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400DE99-0811-4D4C-9B6C-3B58E3B9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89864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7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938A77E-6840-4D8C-AADA-E05BF4BD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898648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2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29.2%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748F50CD-D6B4-46EC-9F85-6B0A6F20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47288"/>
            <a:ext cx="1051560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1249405-73C0-4DEB-8832-6C707EF6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55701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3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管院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8A4035-D254-4D11-A6BF-6483C397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557016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36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86B60AB-10D2-4EC9-9383-14F843B3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557016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10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AA3B084-1FC3-4287-8F98-45242314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557016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2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27.8%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F400CD7C-0960-49E1-91B5-680B9387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05656"/>
            <a:ext cx="1051560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0D9D7BB-896A-4EDE-B68B-3CFC00BD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215384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3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醫學院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2C69FA6-3079-4595-B189-24FE2E90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215384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117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95FA957B-37CF-4964-822C-86D96172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215384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14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4E691C0B-5F2F-4CBE-927F-1D3D4AD2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215384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2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12.0%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6AF718D7-1D3E-40BE-8EBC-3390F630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64024"/>
            <a:ext cx="1051560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B51D4A58-115F-4028-ABDC-F33D3401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87375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3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護理學院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443B370-CD18-4F5B-B0E8-FCF30D8B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873752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117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4ED2984-D213-478A-8692-960B0DB6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873752"/>
            <a:ext cx="2560320" cy="236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55</a:t>
            </a: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F954D388-ECF9-4CC4-BBE1-659C1093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873752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2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46.2%</a:t>
            </a:r>
          </a:p>
        </p:txBody>
      </p:sp>
    </p:spTree>
    <p:extLst>
      <p:ext uri="{BB962C8B-B14F-4D97-AF65-F5344CB8AC3E}">
        <p14:creationId xmlns:p14="http://schemas.microsoft.com/office/powerpoint/2010/main" val="13445310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74776BC-251B-47D7-9D32-77074BB2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7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E8EADE3-5D03-443D-A9F6-2B00A4BC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155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6424D"/>
                </a:solidFill>
                <a:latin typeface="Microsoft JhengHei"/>
                <a:ea typeface="Microsoft JhengHei"/>
                <a:cs typeface="Microsoft JhengHei"/>
              </a:rPr>
              <a:t>一年內重複出國學生分析</a:t>
            </a:r>
            <a:endParaRPr sz="2300" b="1">
              <a:solidFill>
                <a:srgbClr val="16424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85944A9-D357-44C0-BEEF-2DBF31A3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58952"/>
            <a:ext cx="11064240" cy="1800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47477"/>
                </a:solidFill>
                <a:latin typeface="Microsoft JhengHei"/>
                <a:ea typeface="Microsoft JhengHei"/>
                <a:cs typeface="Microsoft JhengHei"/>
              </a:rPr>
              <a:t>依學號統計</a:t>
            </a:r>
            <a:r>
              <a:rPr sz="1050" b="0">
                <a:solidFill>
                  <a:srgbClr val="647477"/>
                </a:solidFill>
                <a:latin typeface="Microsoft JhengHei"/>
                <a:ea typeface="Microsoft JhengHei"/>
                <a:cs typeface="Microsoft JhengHei"/>
              </a:rPr>
              <a:t> 114 </a:t>
            </a:r>
            <a:r>
              <a:rPr sz="1050" b="0">
                <a:solidFill>
                  <a:srgbClr val="647477"/>
                </a:solidFill>
                <a:latin typeface="Microsoft JhengHei"/>
                <a:ea typeface="Microsoft JhengHei"/>
                <a:cs typeface="Microsoft JhengHei"/>
              </a:rPr>
              <a:t>學年度出國活動紀錄</a:t>
            </a:r>
            <a:endParaRPr sz="1050" b="0">
              <a:solidFill>
                <a:srgbClr val="64747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D7CBDBA-9E77-44A7-8C6E-D4FF1478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9875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47477"/>
                </a:solidFill>
                <a:latin typeface="Microsoft JhengHei"/>
                <a:ea typeface="Microsoft JhengHei"/>
                <a:cs typeface="Microsoft JhengHei"/>
              </a:rPr>
              <a:t>慈濟大學｜全球事務處｜114學年度衣珠計畫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6FF70D7-EE34-4722-9935-44086A85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510528"/>
            <a:ext cx="640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2B6F75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837BA36-CF39-4AAE-9BD1-DE2C41C7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1546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>
            <a:solidFill>
              <a:srgbClr val="CBDC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08140B-F4CB-4744-85D5-C1A68DA3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572768"/>
            <a:ext cx="2834640" cy="4493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2B6F75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r>
              <a:rPr sz="2800" b="1">
                <a:solidFill>
                  <a:srgbClr val="2B6F75"/>
                </a:solidFill>
                <a:latin typeface="Microsoft JhengHei"/>
                <a:ea typeface="Microsoft JhengHei"/>
                <a:cs typeface="Microsoft JhengHei"/>
              </a:rPr>
              <a:t>9</a:t>
            </a:r>
            <a:r>
              <a:rPr sz="2800" b="1">
                <a:solidFill>
                  <a:srgbClr val="2B6F75"/>
                </a:solidFill>
                <a:latin typeface="Microsoft JhengHei"/>
                <a:ea typeface="Microsoft JhengHei"/>
                <a:cs typeface="Microsoft JhengHei"/>
              </a:rPr>
              <a:t>位</a:t>
            </a:r>
            <a:endParaRPr sz="2800" b="1">
              <a:solidFill>
                <a:srgbClr val="2B6F75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5686D14-C2D3-4252-863F-2DA60BA8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148840"/>
            <a:ext cx="283464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有 2 筆以上有效活動紀錄的學生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A8323BD-0D62-45C0-857A-69EC27EB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17320"/>
            <a:ext cx="31546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>
            <a:solidFill>
              <a:srgbClr val="CBDC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5EBCB7-6FAB-45C9-BB7A-BBC95285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572768"/>
            <a:ext cx="2834640" cy="4493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2B6F75"/>
                </a:solidFill>
                <a:latin typeface="Microsoft JhengHei"/>
                <a:ea typeface="Microsoft JhengHei"/>
                <a:cs typeface="Microsoft JhengHei"/>
              </a:rPr>
              <a:t>79</a:t>
            </a:r>
            <a:r>
              <a:rPr sz="2800" b="1">
                <a:solidFill>
                  <a:srgbClr val="2B6F75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800" b="1">
                <a:solidFill>
                  <a:srgbClr val="2B6F75"/>
                </a:solidFill>
                <a:latin typeface="Microsoft JhengHei"/>
                <a:ea typeface="Microsoft JhengHei"/>
                <a:cs typeface="Microsoft JhengHei"/>
              </a:rPr>
              <a:t>筆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988DD45-12BA-4E96-9C4F-219DA60D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2148840"/>
            <a:ext cx="283464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上述學生的有效出國活動紀錄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3BA4AC8-419D-499C-8DD2-AA5FA6DD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417320"/>
            <a:ext cx="31546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>
            <a:solidFill>
              <a:srgbClr val="CBDC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2C0B1C5-C0D6-4B07-956F-53F90CA3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572768"/>
            <a:ext cx="2834640" cy="4493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2B6F75"/>
                </a:solidFill>
                <a:latin typeface="Microsoft JhengHei"/>
                <a:ea typeface="Microsoft JhengHei"/>
                <a:cs typeface="Microsoft JhengHei"/>
              </a:rPr>
              <a:t>20.7</a:t>
            </a:r>
            <a:r>
              <a:rPr sz="2800" b="1">
                <a:solidFill>
                  <a:srgbClr val="2B6F75"/>
                </a:solidFill>
                <a:latin typeface="Microsoft JhengHei"/>
                <a:ea typeface="Microsoft JhengHei"/>
                <a:cs typeface="Microsoft JhengHei"/>
              </a:rPr>
              <a:t>%</a:t>
            </a:r>
            <a:endParaRPr sz="2800" b="1">
              <a:solidFill>
                <a:srgbClr val="2B6F75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3368FD3-2FBB-455D-9B6A-86D0E8C0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148840"/>
            <a:ext cx="2834640" cy="1800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79</a:t>
            </a:r>
            <a:r>
              <a:rPr sz="10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0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÷ </a:t>
            </a:r>
            <a:r>
              <a:rPr sz="10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r>
              <a:rPr sz="10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82</a:t>
            </a:r>
            <a:r>
              <a:rPr sz="10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0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位有效紀錄</a:t>
            </a:r>
            <a:r>
              <a:rPr sz="105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人次</a:t>
            </a:r>
            <a:endParaRPr sz="1050" b="0">
              <a:solidFill>
                <a:srgbClr val="2B373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812349B-4157-4C9E-927F-0BE629F6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6324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6424D"/>
                </a:solidFill>
                <a:latin typeface="Microsoft JhengHei"/>
                <a:ea typeface="Microsoft JhengHei"/>
                <a:cs typeface="Microsoft JhengHei"/>
              </a:rPr>
              <a:t>統計結果</a:t>
            </a:r>
            <a:endParaRPr sz="1600" b="1">
              <a:solidFill>
                <a:srgbClr val="16424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A47133E4-0652-4031-9A48-2BAC98B2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31585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65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1731D0-3A56-480B-AC40-46DC24B2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558433"/>
            <a:ext cx="10469880" cy="1954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重複紀錄學生中，</a:t>
            </a:r>
            <a:r>
              <a:rPr sz="11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r>
              <a:rPr sz="11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8</a:t>
            </a:r>
            <a:r>
              <a:rPr sz="11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1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位有</a:t>
            </a:r>
            <a:r>
              <a:rPr sz="11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 2 筆紀錄，1 </a:t>
            </a:r>
            <a:r>
              <a:rPr sz="11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位有</a:t>
            </a:r>
            <a:r>
              <a:rPr sz="11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 3 </a:t>
            </a:r>
            <a:r>
              <a:rPr sz="11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筆以上紀錄</a:t>
            </a:r>
            <a:r>
              <a:rPr sz="11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7C1B5688-F9D8-4F9D-9517-B19EEDD1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98513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65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5CF76FD-6D88-43FE-827C-68088BE4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125361"/>
            <a:ext cx="1046988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此統計反映同一學年度內的重複活動紀錄，不代表已能判定其過往是否曾出國；未出現重複紀錄者不可直接視為首次出國</a:t>
            </a:r>
            <a:r>
              <a:rPr sz="11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B38AC89-A599-4F91-8B27-AB7DB9F0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765441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65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4835B28-35DD-42D8-A72E-3EBD4A5E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92289"/>
            <a:ext cx="1046988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2B373A"/>
                </a:solidFill>
                <a:latin typeface="Microsoft JhengHei"/>
                <a:ea typeface="Microsoft JhengHei"/>
                <a:cs typeface="Microsoft JhengHei"/>
              </a:rPr>
              <a:t>資源規劃可在支持持續參與的同時，增加對尚未獲得海外學習機會學生的宣導與支持，避免機會過度集中。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D6C99D4-72A3-4931-906B-24601B3D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96377"/>
            <a:ext cx="10881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69" b="0">
                <a:solidFill>
                  <a:srgbClr val="647477"/>
                </a:solidFill>
                <a:latin typeface="Microsoft JhengHei"/>
                <a:ea typeface="Microsoft JhengHei"/>
                <a:cs typeface="Microsoft JhengHei"/>
              </a:rPr>
              <a:t>口徑說明：依「114學年度出國學生」工作表，以學號去重；活動名稱含「不列入計算」者不納入本次重複統計。</a:t>
            </a:r>
          </a:p>
        </p:txBody>
      </p:sp>
    </p:spTree>
    <p:extLst>
      <p:ext uri="{BB962C8B-B14F-4D97-AF65-F5344CB8AC3E}">
        <p14:creationId xmlns:p14="http://schemas.microsoft.com/office/powerpoint/2010/main" val="28608818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FDE157B0-129B-4D41-8319-59E8D279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155680" cy="372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6424D"/>
                </a:solidFill>
                <a:latin typeface="微軟正黑體"/>
                <a:ea typeface="微軟正黑體"/>
                <a:cs typeface="微軟正黑體"/>
              </a:rPr>
              <a:t>一年內重複出國學生</a:t>
            </a:r>
            <a:r>
              <a:rPr sz="2300" b="1">
                <a:solidFill>
                  <a:srgbClr val="16424D"/>
                </a:solidFill>
                <a:latin typeface="微軟正黑體"/>
                <a:ea typeface="微軟正黑體"/>
                <a:cs typeface="微軟正黑體"/>
              </a:rPr>
              <a:t>所屬系所</a:t>
            </a:r>
            <a:r>
              <a:rPr sz="2300" b="1">
                <a:solidFill>
                  <a:srgbClr val="16424D"/>
                </a:solidFill>
                <a:latin typeface="微軟正黑體"/>
                <a:ea typeface="微軟正黑體"/>
                <a:cs typeface="微軟正黑體"/>
              </a:rPr>
              <a:t>分析</a:t>
            </a:r>
            <a:endParaRPr sz="2300" b="1">
              <a:solidFill>
                <a:srgbClr val="16424D"/>
              </a:solidFill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6" name="表格 5">
            <a:extLst xmlns:a="http://schemas.openxmlformats.org/drawingml/2006/main">
              <a:ext uri="{FF2B5EF4-FFF2-40B4-BE49-F238E27FC236}">
                <a16:creationId xmlns:a16="http://schemas.microsoft.com/office/drawing/2014/main" id="{8C4A4B60-C009-4136-AC48-22F30A0BD05F}"/>
              </a:ext>
            </a:extLst>
          </p:cNvPr>
          <p:cNvGraphicFramePr/>
          <p:nvPr/>
        </p:nvGraphicFramePr>
        <p:xfrm>
          <a:off xmlns:a="http://schemas.openxmlformats.org/drawingml/2006/main" x="708211" y="1017784"/>
          <a:ext xmlns:a="http://schemas.openxmlformats.org/drawingml/2006/main" cx="8229600" cy="3048000"/>
        </p:xfrm>
        <a:graphic xmlns:a="http://schemas.openxmlformats.org/drawingml/2006/main"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sz="1400">
                          <a:latin typeface="微軟正黑體"/>
                          <a:ea typeface="微軟正黑體"/>
                          <a:cs typeface="微軟正黑體"/>
                        </a:rPr>
                        <a:t>系所</a:t>
                      </a:r>
                      <a:endParaRPr sz="1400">
                        <a:solidFill>
                          <a:srgbClr val="16424D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軟正黑體"/>
                          <a:ea typeface="微軟正黑體"/>
                          <a:cs typeface="微軟正黑體"/>
                        </a:rPr>
                        <a:t>重複出國人數</a:t>
                      </a:r>
                      <a:endParaRPr sz="1400">
                        <a:solidFill>
                          <a:srgbClr val="16424D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軟正黑體"/>
                          <a:ea typeface="微軟正黑體"/>
                          <a:cs typeface="微軟正黑體"/>
                        </a:rPr>
                        <a:t>其中完善生</a:t>
                      </a:r>
                      <a:endParaRPr sz="1400">
                        <a:solidFill>
                          <a:srgbClr val="16424D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兒家系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12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護理科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物治系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護理系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醫工系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醫學系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藥學系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資管系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醫放系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39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微軟正黑體"/>
                          <a:ea typeface="微軟正黑體"/>
                          <a:cs typeface="微軟正黑體"/>
                        </a:rPr>
                        <a:t>6</a:t>
                      </a:r>
                      <a:endParaRPr sz="120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0024CE-A9FF-4005-9FC0-B2B0266A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19" y="4583756"/>
            <a:ext cx="8434891" cy="931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</p:spPr>
        <p:style>
          <a:lnRef xmlns:a="http://schemas.openxmlformats.org/drawingml/2006/main" idx="2">
            <a:schemeClr val="accent3">
              <a:shade val="50000"/>
            </a:schemeClr>
          </a:lnRef>
          <a:fillRef xmlns:a="http://schemas.openxmlformats.org/drawingml/2006/main" idx="1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115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114 </a:t>
            </a:r>
            <a:r>
              <a:rPr sz="115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學年度共有 </a:t>
            </a:r>
            <a:r>
              <a:rPr sz="115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39 </a:t>
            </a:r>
            <a:r>
              <a:rPr sz="115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位學生於當學年度有重複出國紀錄，其中 </a:t>
            </a:r>
            <a:r>
              <a:rPr sz="115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6 </a:t>
            </a:r>
            <a:r>
              <a:rPr sz="115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位為完善生。</a:t>
            </a:r>
            <a:endParaRPr sz="1150" b="0" i="0" u="none" strike="noStrike" cap="none" baseline="0">
              <a:ln>
                <a:noFill/>
              </a:ln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115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後續可持續關注經濟不利學生的海外交流需求，兼顧學生持續參與及拓展新參與者的機會。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115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提醒：此處的「重複出國」是指同一學年度內有重複紀錄，不能據此判定其他學生是否為首次出國。</a:t>
            </a:r>
          </a:p>
        </p:txBody>
      </p:sp>
    </p:spTree>
    <p:extLst>
      <p:ext uri="{BB962C8B-B14F-4D97-AF65-F5344CB8AC3E}">
        <p14:creationId xmlns:p14="http://schemas.microsoft.com/office/powerpoint/2010/main" val="21779952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2AE51CF-D0A3-4BB1-B877-0AC4B1F6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4A1C33D-93F2-44EF-99B1-8BEBE360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5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115學年度經費分配｜先保障重大出團，再依比例分配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6941934-FC2A-42C5-A833-65F7282F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32104"/>
            <a:ext cx="10972800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此分配原則已於</a:t>
            </a:r>
            <a:r>
              <a:t>9</a:t>
            </a:r>
            <a:r>
              <a:t>月</a:t>
            </a:r>
            <a:r>
              <a:t>8</a:t>
            </a:r>
            <a:r>
              <a:t>日</a:t>
            </a:r>
            <a:r>
              <a:t>主管會議核定</a:t>
            </a:r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E8803FC-5B0D-4CC2-8835-F080D095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10528"/>
            <a:ext cx="110642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71B028-9871-4D1A-9E4A-72B5A9C3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慈濟大學｜全球事務處｜114學年度衣珠計畫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D5A5A0A-AB7B-4165-B330-DC5CEEE2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47104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08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E682A4A-4A77-4634-B376-619FC837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9144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58BFFF0-23D8-4D9F-A1D6-9222B74F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755648"/>
            <a:ext cx="594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EDCC7E7-FD31-4CE4-9301-39384901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91056"/>
            <a:ext cx="8961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7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先框列重大出團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3F35648-8939-4556-8848-1C8D5F19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93391"/>
            <a:ext cx="8869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優先確認具規模、具必要性或需提前規劃的重大出團經費。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4A10F3A-A998-4AA2-B443-AA88ACB7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52928"/>
            <a:ext cx="9144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F9CB49A-F58E-4E93-B4BE-357540B9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054096"/>
            <a:ext cx="594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03D2D07-87FD-4124-9297-D903BD4E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89504"/>
            <a:ext cx="8961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7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依114學年度出國比例分配各院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05F6C64-5A55-45EA-A740-C52DA6AB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91840"/>
            <a:ext cx="8869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重大出團經費框列後，剩餘可分配經費依各院114學年度出國比例分配。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5B364B2-17A3-413F-B2DF-BF9107DB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51376"/>
            <a:ext cx="9144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79B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56BD463-1AB2-4FFB-B47C-99FE653A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352544"/>
            <a:ext cx="594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7E46916-4EE9-40B8-831F-9EBA9E87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87952"/>
            <a:ext cx="8961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7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追蹤執行與公平性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4460AD7-41D8-48CA-B08C-4E5AB465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90288"/>
            <a:ext cx="8869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檢視實際使用、完善生參與及各院執行成果，作為次年度調整依據。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504BD1F3-7590-4752-A502-2EEBBE48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77840"/>
            <a:ext cx="1042416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D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35D0948-0478-4F48-B018-2C335937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8756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3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分配原則：重大出團優先保障，院級資源依實際出國參與比例配置。</a:t>
            </a:r>
          </a:p>
        </p:txBody>
      </p:sp>
    </p:spTree>
    <p:extLst>
      <p:ext uri="{BB962C8B-B14F-4D97-AF65-F5344CB8AC3E}">
        <p14:creationId xmlns:p14="http://schemas.microsoft.com/office/powerpoint/2010/main" val="1184659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E3D9AA8-2539-4536-A3F9-4029102C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56D9B7B-9753-482F-AB76-5EC13144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5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分析範圍與下一步｜將外籍生納入國際學習支持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2662288-0A38-451A-9C96-3D91EAD9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32104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目前簡報出國分析以本國生為主；外籍生將另行建立鼓勵與追蹤機制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9AFF79-1F24-4684-9DD9-553FCD3A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10528"/>
            <a:ext cx="110642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37CB7F-FE86-45AD-9AA5-C4FE94A2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慈濟大學｜全球事務處｜114學年度衣珠計畫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7D6D74-59ED-48CE-94C1-FDCA7D8A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47104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09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5995A4D-76CA-4671-9C9E-2FBF245D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5166360" cy="4251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F4AF49-6DA0-4A93-888F-CF76393D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373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7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目前資料範圍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644D3BA-2382-48D2-970D-D1D9A5E4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31720"/>
            <a:ext cx="4480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700" b="1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本國生出國人次與完善生參與分析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FEC3F1E-87C8-4C69-998B-3B2F325D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246120"/>
            <a:ext cx="44805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3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外籍生出國參與尚未納入本次主要分析，建議補充人數、參與型態與支持需求，避免政策規劃只反映單一學生群體。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C76827F-A11E-4113-9DCC-900A6C3D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3040"/>
            <a:ext cx="5166360" cy="4251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D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46EB9F7-EAE0-480E-9DCA-E2EF7C50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373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7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外籍生鼓勵策略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0AE51D3-1409-442D-B54D-82CC57AC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286000"/>
            <a:ext cx="4526280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 </a:t>
            </a:r>
            <a:r>
              <a:t>語言優勢，可協助出團。更多經費鼓勵外籍生出國</a:t>
            </a: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C9DB235-47F8-4EEE-9669-AF50BBA2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999232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 與國際專班、導師及系所合作，提早掌握意願與時間限制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7CB960-C165-492A-A71C-25DCC342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712464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 檢視簽證、課程、語言與經費等參與門檻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F1B9601-5B2A-42E4-9BD2-0920A2EB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425696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 追蹤申請、錄取、成行與返國分享成果</a:t>
            </a:r>
          </a:p>
        </p:txBody>
      </p:sp>
      <p:sp>
        <p:nvSpPr>
          <p:cNvPr id="19" name="文字方塊 18">
            <a:extLst xmlns:a="http://schemas.openxmlformats.org/drawingml/2006/main">
              <a:ext uri="{FF2B5EF4-FFF2-40B4-BE49-F238E27FC236}">
                <a16:creationId xmlns:a16="http://schemas.microsoft.com/office/drawing/2014/main" id="{B5018D15-6B8E-4AA2-A560-E79C7A2D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16" y="5916705"/>
            <a:ext cx="971932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</a:rPr>
              <a:t>待補外籍生出國分析</a:t>
            </a:r>
            <a:r>
              <a:rPr>
                <a:solidFill>
                  <a:srgbClr val="FF0000"/>
                </a:solidFill>
              </a:rPr>
              <a:t>-</a:t>
            </a:r>
            <a:r>
              <a:rPr>
                <a:solidFill>
                  <a:srgbClr val="FF0000"/>
                </a:solidFill>
              </a:rPr>
              <a:t>説</a:t>
            </a:r>
            <a:r>
              <a:rPr>
                <a:solidFill>
                  <a:srgbClr val="FF0000"/>
                </a:solidFill>
              </a:rPr>
              <a:t>明外籍生能使用的出國資源比較局限，所以需要爭取更多高教計劃經費</a:t>
            </a:r>
            <a:endParaRPr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8101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B945E2C-47D9-4A6D-ABF8-9E80EDDE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D15C577-9081-49BF-8780-F7042D83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5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優化策略｜從年度統計走向可追蹤的支持制度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60498D-B078-49D7-A594-5C34BD2B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32104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建議以公平參與、院級責任、資料品質與學習成效四個面向持續改善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EBCFC22-54EF-4C91-A5A6-4EBC7ED0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10528"/>
            <a:ext cx="110642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0EF3B24-8092-4898-BE2D-B7FA78F2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慈濟大學｜全球事務處｜114學年度衣珠計畫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49406E3-CBC9-482F-92F3-715DDBD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47104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F6B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10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2F91903-B14D-4BFA-A3F7-5CD5C831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51206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773CD9-272F-4F8B-88D3-673FBBBD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82296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44289AB-56F3-42E7-ADC7-8D42764B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1691639"/>
            <a:ext cx="4480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公平參與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6CF2FC2-BE06-4B79-9FD4-E474655E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2130552"/>
            <a:ext cx="4526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分身分追蹤申請率、錄取率、成行率；提供經濟不利學生資訊與經費諮詢</a:t>
            </a:r>
            <a:r>
              <a:t>。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E799DEC-049B-4B34-B162-E2D0F7DA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08760"/>
            <a:ext cx="51206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5D0F84B-1DE3-47B3-B0EE-2F7000D7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08760"/>
            <a:ext cx="82296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A1BBE09-BD3A-474E-86CD-60569CD8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691639"/>
            <a:ext cx="4480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院級共責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CD4D734-708D-4223-BBF8-1B28AA78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130552"/>
            <a:ext cx="4526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依114學年度出國比例分配資源，並由各院提出年度目標與執行規劃。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4F24862-4171-4124-B316-9C5BE973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79"/>
            <a:ext cx="51206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8281A15-9D80-4A08-89D6-F36AAEEF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79"/>
            <a:ext cx="82296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CB73D8C-EA52-4790-861A-D8B5B7D1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3566160"/>
            <a:ext cx="4480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資料治理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5B6A835-BDAF-4EC8-8F01-15D4276B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4005072"/>
            <a:ext cx="4526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統一「人次／去重學生數」口徑；區分本國生、外籍生、完善生及補助來源。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8500E00-E52D-4878-AE66-CAB6FCD7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383279"/>
            <a:ext cx="51206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078C3B0-D704-4FA1-8F66-EC83A041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383279"/>
            <a:ext cx="82296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C6DD5A4-20DA-496C-AD89-1BC0E156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3566160"/>
            <a:ext cx="4480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C5B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學習成效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73EF909-3DE1-4387-AFA9-A18C1439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4005072"/>
            <a:ext cx="4526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2239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出國前訂定學習目標，返國後完成成果紀錄、分享或學分採認諮詢。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1F59122C-671D-4630-8E18-E20F34C6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32120"/>
            <a:ext cx="1042416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5B46"/>
          </a:solidFill>
          <a:ln xmlns:a="http://schemas.openxmlformats.org/drawingml/2006/main">
            <a:solidFill>
              <a:srgbClr val="0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E755D-2F24-4638-B6CB-D06A4454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650992"/>
            <a:ext cx="9966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建議年度KPI：出國總人次、去重學生數、完善生參與占比、外籍生參與人次、返國成果分享場次</a:t>
            </a:r>
            <a: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159938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Table 6">
            <a:extLst xmlns:a="http://schemas.openxmlformats.org/drawingml/2006/main">
              <a:ext uri="{FF2B5EF4-FFF2-40B4-BE49-F238E27FC236}">
                <a16:creationId xmlns:a16="http://schemas.microsoft.com/office/drawing/2014/main" id="{A7E41D76-8DCE-48FD-B453-5210D197808E}"/>
              </a:ext>
            </a:extLst>
          </p:cNvPr>
          <p:cNvGraphicFramePr/>
          <p:nvPr/>
        </p:nvGraphicFramePr>
        <p:xfrm>
          <a:off xmlns:a="http://schemas.openxmlformats.org/drawingml/2006/main" x="438912" y="1064642"/>
          <a:ext xmlns:a="http://schemas.openxmlformats.org/drawingml/2006/main" cx="11292840" cy="546811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41248"/>
                <a:gridCol w="1417320"/>
                <a:gridCol w="1417320"/>
                <a:gridCol w="6473952"/>
              </a:tblGrid>
              <a:tr h="31089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學號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系所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活動名稱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112811101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黃樂康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114/08/02～114/08/17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「兒」目一「新」~兒家產業植涯探索 (鄭雅莉老師)(深耕)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112811101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黃樂康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115/06/27～115/07/26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慈濟大學兒家系跨世代專業服務整合實習計畫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112811108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鄭聿淇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114/08/02～114/08/17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「兒」目一「新」~兒家產業植涯探索 (鄭雅莉老師)(深耕)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112811108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鄭聿淇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27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～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07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26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慈濟大學兒家系跨世代專業服務整合實習計畫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張麗芬主任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112811110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羅淯婷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114/08/02～114/08/17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「兒」目一「新」~兒家產業植涯探索 (鄭雅莉老師)(深耕)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112811110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羅淯婷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27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～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07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26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慈濟大學兒家系跨世代專業服務整合實習計畫(張麗芬主任)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112811119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向峯逸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114/08/02～114/08/17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兒」目一「新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」~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兒家產業植涯探索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(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鄭雅莉老師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)(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深耕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112811119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向峯逸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6/27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～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7/26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新南向學海：2025慈濟大學兒家系兒目一”新”實習計劃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112811120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梁華庭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114/08/15～114/08/23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心苗志工隊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-「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泰」幸福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:「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北」境SEL共好營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112811120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梁華庭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1150627～1150726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慈濟大學兒家系跨世代專業服務整合實習計畫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張麗芬主任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114119119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蕭亦欣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兒家系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115/01/18～115/01/27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心之所向」幼老災難心理共學家庭方案服務學習計畫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114119119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蕭亦欣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115/07/24～115/08/06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兒家產業職涯見習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2">
            <a:extLst xmlns:a="http://schemas.openxmlformats.org/drawingml/2006/main">
              <a:ext uri="{FF2B5EF4-FFF2-40B4-BE49-F238E27FC236}">
                <a16:creationId xmlns:a16="http://schemas.microsoft.com/office/drawing/2014/main" id="{61DB9E6C-5F36-474C-88BD-C690FECE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155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6424D"/>
                </a:solidFill>
                <a:latin typeface="Microsoft JhengHei"/>
                <a:ea typeface="Microsoft JhengHei"/>
                <a:cs typeface="Microsoft JhengHei"/>
              </a:rPr>
              <a:t>一年內重複出國學生名單｜詳細紀錄</a:t>
            </a:r>
            <a:endParaRPr sz="2300" b="1">
              <a:solidFill>
                <a:srgbClr val="16424D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86895535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Table 6">
            <a:extLst xmlns:a="http://schemas.openxmlformats.org/drawingml/2006/main">
              <a:ext uri="{FF2B5EF4-FFF2-40B4-BE49-F238E27FC236}">
                <a16:creationId xmlns:a16="http://schemas.microsoft.com/office/drawing/2014/main" id="{5D04C3A0-DB87-4EDF-BF09-AE60ADEE645E}"/>
              </a:ext>
            </a:extLst>
          </p:cNvPr>
          <p:cNvGraphicFramePr/>
          <p:nvPr/>
        </p:nvGraphicFramePr>
        <p:xfrm>
          <a:off xmlns:a="http://schemas.openxmlformats.org/drawingml/2006/main" x="438912" y="1091537"/>
          <a:ext xmlns:a="http://schemas.openxmlformats.org/drawingml/2006/main" cx="11292840" cy="546811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41248"/>
                <a:gridCol w="1417320"/>
                <a:gridCol w="1417320"/>
                <a:gridCol w="6473952"/>
              </a:tblGrid>
              <a:tr h="31089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學號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系所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活動名稱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112811122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許郁琪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114/08/02～114/08/17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「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兒」目一「新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」~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兒家產業植涯探索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(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鄭雅莉老師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)(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深耕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)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112811122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許郁琪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06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～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07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慈濟大學兒家系跨世代專業服務整合實習計畫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(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張麗芬主任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112811128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林宛詩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114/08/02～114/08/17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「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兒」目一「新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」~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兒家產業植涯探索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(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鄭雅莉老師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)(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深耕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)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112811128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林宛詩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115/01/18～115/01/27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「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心之所向」幼老災難心理共學家庭方案服務學習計畫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112811132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羅寶儀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114/08/02～114/08/17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「兒」目一「新」~兒家產業植涯探索 (鄭雅莉老師)(深耕)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112811132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羅寶儀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115/07/06～115/08/28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馬來西亞專業實習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職場實習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113119106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黃汮言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兒家系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114/08/02～114/08/17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「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兒」目一「新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」~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兒家產業植涯探索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(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鄭雅莉老師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)(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深耕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)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113119106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黄汮言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115/07/07～115/07/16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2026 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台馬樂高教育服務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隊 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真愛在吉打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114119104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黃育婷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115/01/18～115/01/27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「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心之所向」幼老災難心理共學家庭方案服務學習計畫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114119104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黃育婷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115/07/24～115/08/06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兒家產業職涯見習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114119122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李金恩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115/01/18～115/01/27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「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心之所向」幼老災難心理共學家庭方案服務學習計畫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114119122</a:t>
                      </a:r>
                    </a:p>
                  </a:txBody>
                  <a:tcPr marL="54864" marR="54864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李金恩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兒家系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115/06/30～115/07/11</a:t>
                      </a:r>
                    </a:p>
                  </a:txBody>
                  <a:tcPr marL="54864" marR="54864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跨域同行・在山打根與愛相遇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noFill/>
                  </a:tcPr>
                </a:tc>
              </a:tr>
            </a:tbl>
          </a:graphicData>
        </a:graphic>
      </p:graphicFrame>
      <p:sp>
        <p:nvSpPr>
          <p:cNvPr id="4" name="TextBox 2">
            <a:extLst xmlns:a="http://schemas.openxmlformats.org/drawingml/2006/main">
              <a:ext uri="{FF2B5EF4-FFF2-40B4-BE49-F238E27FC236}">
                <a16:creationId xmlns:a16="http://schemas.microsoft.com/office/drawing/2014/main" id="{C730FADE-A115-4108-AB46-FB9EDF70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155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6424D"/>
                </a:solidFill>
                <a:latin typeface="Microsoft JhengHei"/>
                <a:ea typeface="Microsoft JhengHei"/>
                <a:cs typeface="Microsoft JhengHei"/>
              </a:rPr>
              <a:t>一年內重複出國學生名單｜詳細紀錄</a:t>
            </a:r>
            <a:endParaRPr sz="2300" b="1">
              <a:solidFill>
                <a:srgbClr val="16424D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49807957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Table 6">
            <a:extLst xmlns:a="http://schemas.openxmlformats.org/drawingml/2006/main">
              <a:ext uri="{FF2B5EF4-FFF2-40B4-BE49-F238E27FC236}">
                <a16:creationId xmlns:a16="http://schemas.microsoft.com/office/drawing/2014/main" id="{73207C0C-A6EA-425C-99E9-3A0AD3A2C4F7}"/>
              </a:ext>
            </a:extLst>
          </p:cNvPr>
          <p:cNvGraphicFramePr/>
          <p:nvPr/>
        </p:nvGraphicFramePr>
        <p:xfrm>
          <a:off xmlns:a="http://schemas.openxmlformats.org/drawingml/2006/main" x="438912" y="1091537"/>
          <a:ext xmlns:a="http://schemas.openxmlformats.org/drawingml/2006/main" cx="11292840" cy="460857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41248"/>
                <a:gridCol w="1417320"/>
                <a:gridCol w="1417320"/>
                <a:gridCol w="6473952"/>
              </a:tblGrid>
              <a:tr h="31089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學號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系所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活動名稱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111331106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張儷馨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物治系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114/08/16～114/08/31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馬來西亞檳城慈濟大愛洗腎中心實習計畫</a:t>
                      </a: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111331106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張儷馨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物治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115/07/09～115/07/21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檳城慈濟大愛洗腎中心見習計畫</a:t>
                      </a: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112317103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李昕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物治系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114/08/16～114/08/31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馬來西亞檳城慈濟大愛洗腎中心實習計畫</a:t>
                      </a: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112317103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李昕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物治系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1/10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～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2/16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114-1 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新南向學海築夢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馬上悟智-馬來西亞物理治療所實習</a:t>
                      </a: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112317129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鄭家靜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物治系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114/08/16～114/08/31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馬來西亞檳城慈濟大愛洗腎中心實習計畫</a:t>
                      </a: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112317129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鄭家靜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物治系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115/02/05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～115/03/14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114學海築夢/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慈濟大學生物醫學工程學系與物理治療學系赴義大利杜林理工大學ReC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Bioengineering實習交流計畫</a:t>
                      </a: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113108104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陳禹涵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物治系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115/01/17～115/02/13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慈濟基金會新加坡分會日間康復中心_慈善醫療實習</a:t>
                      </a: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113108104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陳禹涵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物治系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115/06/29～115/07/29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2026慈大楓華-海外華語教育暨服務學習志工團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113108119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程湘儀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物治系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115/07/09～115/07/21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檳城慈濟大愛洗腎中心見習計畫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marR="0" indent="0" algn="ctr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113108119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程湘儀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物治系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80" b="0" i="0" u="none" strike="noStrike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114/08/12~114/08/19</a:t>
                      </a:r>
                      <a:endParaRPr sz="880" b="0" i="0" u="none" strike="noStrike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350" marR="6350" marT="6350" marB="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80" b="0" i="0" u="none" strike="noStrike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人醫菲揚，讓愛</a:t>
                      </a:r>
                      <a:r>
                        <a:rPr sz="880" b="0" i="0" u="none" strike="noStrike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飛翔</a:t>
                      </a:r>
                      <a:endParaRPr sz="880" b="0" i="0" u="none" strike="noStrike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350" marR="6350" marT="6350" marB="0" anchor="ctr">
                    <a:solidFill>
                      <a:srgbClr val="F6F9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2">
            <a:extLst xmlns:a="http://schemas.openxmlformats.org/drawingml/2006/main">
              <a:ext uri="{FF2B5EF4-FFF2-40B4-BE49-F238E27FC236}">
                <a16:creationId xmlns:a16="http://schemas.microsoft.com/office/drawing/2014/main" id="{85DC258E-2763-4614-ADF8-D6F7D7DA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155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6424D"/>
                </a:solidFill>
                <a:latin typeface="Microsoft JhengHei"/>
                <a:ea typeface="Microsoft JhengHei"/>
                <a:cs typeface="Microsoft JhengHei"/>
              </a:rPr>
              <a:t>一年內重複出國學生名單｜詳細紀錄</a:t>
            </a:r>
            <a:endParaRPr sz="2300" b="1">
              <a:solidFill>
                <a:srgbClr val="16424D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04304490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Table 6">
            <a:extLst xmlns:a="http://schemas.openxmlformats.org/drawingml/2006/main">
              <a:ext uri="{FF2B5EF4-FFF2-40B4-BE49-F238E27FC236}">
                <a16:creationId xmlns:a16="http://schemas.microsoft.com/office/drawing/2014/main" id="{E5A1339F-36BC-40B8-9488-89E79DB7D716}"/>
              </a:ext>
            </a:extLst>
          </p:cNvPr>
          <p:cNvGraphicFramePr/>
          <p:nvPr/>
        </p:nvGraphicFramePr>
        <p:xfrm>
          <a:off xmlns:a="http://schemas.openxmlformats.org/drawingml/2006/main" x="438912" y="1091537"/>
          <a:ext xmlns:a="http://schemas.openxmlformats.org/drawingml/2006/main" cx="11292840" cy="546811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41248"/>
                <a:gridCol w="1417320"/>
                <a:gridCol w="1417320"/>
                <a:gridCol w="6473952"/>
              </a:tblGrid>
              <a:tr h="31089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學號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系所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活動名稱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11249081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黃湘玲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115/01/12～115/01/18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越南海外招生暨國際文化交流活動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11249081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黃湘玲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115/06/29～115/07/06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【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菲律賓原住民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海外服務學習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】-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原力出發，與菲同行</a:t>
                      </a: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113111201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陳姵璇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115/01/25～115/02/06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慈濟大學2026年【師者育英才．青年行悲智．馬泰傳愛心】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113111201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陳姵璇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1150706～1150807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澳洲長期照護實習</a:t>
                      </a: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114411126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徐恩希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115/01/12～115/01/18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越南海外招生暨國際文化交流活動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114411126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徐恩希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115/06/29～115/07/06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【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菲律賓原住民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海外服務學習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】-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原力出發，與菲同行</a:t>
                      </a: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2">
            <a:extLst xmlns:a="http://schemas.openxmlformats.org/drawingml/2006/main">
              <a:ext uri="{FF2B5EF4-FFF2-40B4-BE49-F238E27FC236}">
                <a16:creationId xmlns:a16="http://schemas.microsoft.com/office/drawing/2014/main" id="{A4056984-F0EB-417B-B3D4-E47ED5E2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155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6424D"/>
                </a:solidFill>
                <a:latin typeface="Microsoft JhengHei"/>
                <a:ea typeface="Microsoft JhengHei"/>
                <a:cs typeface="Microsoft JhengHei"/>
              </a:rPr>
              <a:t>一年內重複出國學生名單｜詳細紀錄</a:t>
            </a:r>
            <a:endParaRPr sz="2300" b="1">
              <a:solidFill>
                <a:srgbClr val="16424D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34262974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Table 6">
            <a:extLst xmlns:a="http://schemas.openxmlformats.org/drawingml/2006/main">
              <a:ext uri="{FF2B5EF4-FFF2-40B4-BE49-F238E27FC236}">
                <a16:creationId xmlns:a16="http://schemas.microsoft.com/office/drawing/2014/main" id="{30D1518E-2EDB-4ED8-892F-844311BC38E3}"/>
              </a:ext>
            </a:extLst>
          </p:cNvPr>
          <p:cNvGraphicFramePr/>
          <p:nvPr/>
        </p:nvGraphicFramePr>
        <p:xfrm>
          <a:off xmlns:a="http://schemas.openxmlformats.org/drawingml/2006/main" x="438912" y="1091537"/>
          <a:ext xmlns:a="http://schemas.openxmlformats.org/drawingml/2006/main" cx="11292840" cy="546811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41248"/>
                <a:gridCol w="1417320"/>
                <a:gridCol w="1417320"/>
                <a:gridCol w="6473952"/>
              </a:tblGrid>
              <a:tr h="31089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學號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系所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活動名稱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11259136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蔡依臻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115/01/25～115/02/06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慈濟大學2026年【師者育英才．青年行悲智．馬泰傳愛心】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11259136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蔡依臻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115/07/08～115/07/27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2026年慈濟大學親善大使築夢服務國際行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11259139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彭品嘉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115/01/25～115/02/06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慈濟大學2026年【師者育英才．青年行悲智．馬泰傳愛心】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11259139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彭品嘉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115/07/08～115/07/27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2026年慈濟大學親善大使築夢服務國際行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11259339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許豑元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115/01/25～115/02/06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慈濟大學2026年【師者育英才．青年行悲智．馬泰傳愛心】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11259339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許豑元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115/07/08～115/07/27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2026年慈濟大學親善大使築夢服務國際行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113511310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吳思璇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115/01/25～115/02/06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慈濟大學2026年【師者育英才．青年行悲智．馬泰傳愛心】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113511310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吳思璇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115/07/02～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115/07/11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護理科-走入檳城：血液透析護理服務學習與文化交流計畫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113511310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吳思璇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115/07/08～115/07/27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2026年慈濟大學親善大使築夢服務國際行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113511312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黃靖倫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115/01/25～115/02/06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慈濟大學2026年【師者育英才．青年行悲智．馬泰傳愛心】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113511312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黃靖倫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115/07/08～115/07/27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2026年慈濟大學親善大使築夢服務國際行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2">
            <a:extLst xmlns:a="http://schemas.openxmlformats.org/drawingml/2006/main">
              <a:ext uri="{FF2B5EF4-FFF2-40B4-BE49-F238E27FC236}">
                <a16:creationId xmlns:a16="http://schemas.microsoft.com/office/drawing/2014/main" id="{7350D511-FBD2-45E0-8AC6-39B7B396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155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6424D"/>
                </a:solidFill>
                <a:latin typeface="Microsoft JhengHei"/>
                <a:ea typeface="Microsoft JhengHei"/>
                <a:cs typeface="Microsoft JhengHei"/>
              </a:rPr>
              <a:t>一年內重複出國學生名單｜詳細紀錄</a:t>
            </a:r>
            <a:endParaRPr sz="2300" b="1">
              <a:solidFill>
                <a:srgbClr val="16424D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68045496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Table 6">
            <a:extLst xmlns:a="http://schemas.openxmlformats.org/drawingml/2006/main">
              <a:ext uri="{FF2B5EF4-FFF2-40B4-BE49-F238E27FC236}">
                <a16:creationId xmlns:a16="http://schemas.microsoft.com/office/drawing/2014/main" id="{BB140574-91CF-4C2F-9FD5-B004D0FC83D9}"/>
              </a:ext>
            </a:extLst>
          </p:cNvPr>
          <p:cNvGraphicFramePr/>
          <p:nvPr/>
        </p:nvGraphicFramePr>
        <p:xfrm>
          <a:off xmlns:a="http://schemas.openxmlformats.org/drawingml/2006/main" x="438912" y="1091537"/>
          <a:ext xmlns:a="http://schemas.openxmlformats.org/drawingml/2006/main" cx="11292840" cy="37490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41248"/>
                <a:gridCol w="1417320"/>
                <a:gridCol w="1417320"/>
                <a:gridCol w="6473952"/>
              </a:tblGrid>
              <a:tr h="31089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學號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系所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活動名稱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11259019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施楙洋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115/01/25～115/02/06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慈濟大學2026年【師者育英才．青年行悲智．馬泰傳愛心】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11259019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施楙洋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115/07/08～115/07/27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2026年慈濟大學親善大使築夢服務國際行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11259122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李沛均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115/01/25～115/02/06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慈濟大學2026年【師者育英才．青年行悲智．馬泰傳愛心】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11259122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李沛均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115/07/08～115/07/27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2026年慈濟大學親善大使築夢服務國際行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11259123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李佳豫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115/01/25～115/02/06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慈濟大學2026年【師者育英才．青年行悲智．馬泰傳愛心】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11259123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李佳豫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115/07/08～115/07/27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2026年慈濟大學親善大使築夢服務國際行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11259126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沈姿璇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115/01/25～115/02/06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慈濟大學2026年【師者育英才．青年行悲智．馬泰傳愛心】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11259126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沈姿璇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護理科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115/07/08～115/07/27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2026年慈濟大學親善大使築夢服務國際行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2">
            <a:extLst xmlns:a="http://schemas.openxmlformats.org/drawingml/2006/main">
              <a:ext uri="{FF2B5EF4-FFF2-40B4-BE49-F238E27FC236}">
                <a16:creationId xmlns:a16="http://schemas.microsoft.com/office/drawing/2014/main" id="{08FC5EF5-76B5-4A93-861D-9EFAF190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155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6424D"/>
                </a:solidFill>
                <a:latin typeface="Microsoft JhengHei"/>
                <a:ea typeface="Microsoft JhengHei"/>
                <a:cs typeface="Microsoft JhengHei"/>
              </a:rPr>
              <a:t>一年內重複出國學生名單｜詳細紀錄</a:t>
            </a:r>
            <a:endParaRPr sz="2300" b="1">
              <a:solidFill>
                <a:srgbClr val="16424D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68417470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Table 6">
            <a:extLst xmlns:a="http://schemas.openxmlformats.org/drawingml/2006/main">
              <a:ext uri="{FF2B5EF4-FFF2-40B4-BE49-F238E27FC236}">
                <a16:creationId xmlns:a16="http://schemas.microsoft.com/office/drawing/2014/main" id="{A0FB5A5D-6F24-4802-AC83-2D37D663E45E}"/>
              </a:ext>
            </a:extLst>
          </p:cNvPr>
          <p:cNvGraphicFramePr/>
          <p:nvPr/>
        </p:nvGraphicFramePr>
        <p:xfrm>
          <a:off xmlns:a="http://schemas.openxmlformats.org/drawingml/2006/main" x="438912" y="1091537"/>
          <a:ext xmlns:a="http://schemas.openxmlformats.org/drawingml/2006/main" cx="11292840" cy="288950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41248"/>
                <a:gridCol w="1417320"/>
                <a:gridCol w="1417320"/>
                <a:gridCol w="6473952"/>
              </a:tblGrid>
              <a:tr h="31089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學號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系所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活動名稱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112316118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鄭富轅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醫工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115/07/18～115/07/26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2026年兩岸青年交流研學之旅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112316118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鄭富轅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醫工系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7/11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～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115/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7/17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第七屆黃公望主題兩岸文創設計大賽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112319108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黃嬿臻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醫工系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114/08/10～114/08/21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馬來西亞吉隆坡、霹靂和檳城三所中學辦理「BioHack醫工探索營-生命信號探險:用科技解讀你的身體」營隊活動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112319108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黃嬿臻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醫工系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115/07/15～115/07/21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2026年工程科技學院暑假生醫資訊科學營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112319103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周晶緹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醫工系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80" b="0" i="0" u="none" strike="noStrike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114/08/10~114/08/21</a:t>
                      </a:r>
                      <a:endParaRPr sz="880" b="0" i="0" u="none" strike="noStrike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350" marR="6350" marT="6350" marB="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80" b="0" i="0" u="none" strike="noStrike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馬來西亞吉隆坡、霹靂和檳城三所中學辦理「</a:t>
                      </a:r>
                      <a:r>
                        <a:rPr sz="880" b="0" i="0" u="none" strike="noStrike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BioHack</a:t>
                      </a:r>
                      <a:r>
                        <a:rPr sz="880" b="0" i="0" u="none" strike="noStrike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醫工探索營</a:t>
                      </a:r>
                      <a:r>
                        <a:rPr sz="880" b="0" i="0" u="none" strike="noStrike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</a:t>
                      </a:r>
                      <a:r>
                        <a:rPr sz="880" b="0" i="0" u="none" strike="noStrike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生命信號探險</a:t>
                      </a:r>
                      <a:r>
                        <a:rPr sz="880" b="0" i="0" u="none" strike="noStrike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:</a:t>
                      </a:r>
                      <a:r>
                        <a:rPr sz="880" b="0" i="0" u="none" strike="noStrike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用科技解讀你的身體」營隊活動</a:t>
                      </a:r>
                    </a:p>
                  </a:txBody>
                  <a:tcPr marL="6350" marR="6350" marT="6350" marB="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112319103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周晶緹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醫工系</a:t>
                      </a:r>
                      <a:endParaRPr sz="880" b="0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80" b="0" i="0" u="none" strike="noStrike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115/07/11~115/07/17</a:t>
                      </a:r>
                      <a:endParaRPr sz="880" b="0" i="0" u="none" strike="noStrike">
                        <a:solidFill>
                          <a:srgbClr val="2B373A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80" b="0" i="0" u="none" strike="noStrike">
                          <a:solidFill>
                            <a:srgbClr val="2B373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第七屆黃公望主題兩岸文創設計大賽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2">
            <a:extLst xmlns:a="http://schemas.openxmlformats.org/drawingml/2006/main">
              <a:ext uri="{FF2B5EF4-FFF2-40B4-BE49-F238E27FC236}">
                <a16:creationId xmlns:a16="http://schemas.microsoft.com/office/drawing/2014/main" id="{23CEDD77-3D95-4741-B368-13DD7575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155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6424D"/>
                </a:solidFill>
                <a:latin typeface="Microsoft JhengHei"/>
                <a:ea typeface="Microsoft JhengHei"/>
                <a:cs typeface="Microsoft JhengHei"/>
              </a:rPr>
              <a:t>一年內重複出國學生名單｜詳細紀錄</a:t>
            </a:r>
            <a:endParaRPr sz="2300" b="1">
              <a:solidFill>
                <a:srgbClr val="16424D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5716664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Table 6">
            <a:extLst xmlns:a="http://schemas.openxmlformats.org/drawingml/2006/main">
              <a:ext uri="{FF2B5EF4-FFF2-40B4-BE49-F238E27FC236}">
                <a16:creationId xmlns:a16="http://schemas.microsoft.com/office/drawing/2014/main" id="{F95CABD5-D023-4EAC-AF3C-537FFED8BF31}"/>
              </a:ext>
            </a:extLst>
          </p:cNvPr>
          <p:cNvGraphicFramePr/>
          <p:nvPr/>
        </p:nvGraphicFramePr>
        <p:xfrm>
          <a:off xmlns:a="http://schemas.openxmlformats.org/drawingml/2006/main" x="438912" y="1091537"/>
          <a:ext xmlns:a="http://schemas.openxmlformats.org/drawingml/2006/main" cx="11292840" cy="460857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41248"/>
                <a:gridCol w="1417320"/>
                <a:gridCol w="1417320"/>
                <a:gridCol w="6473952"/>
              </a:tblGrid>
              <a:tr h="31089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學號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系所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活動名稱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113101114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鄭晴天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醫學系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114/08/12～114/08/19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人醫菲揚，讓愛飛翔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113101114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鄭晴天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醫學系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115/07/21～115/07/28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115學年學生AMSEP活動_TWXSG_學生機票(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馬來西亞</a:t>
                      </a: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113101137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莫殷其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醫學系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80" b="0" i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114/08/12</a:t>
                      </a:r>
                      <a:br>
                        <a:rPr sz="880" b="0" i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sz="880" b="0" i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114/08/19</a:t>
                      </a:r>
                    </a:p>
                  </a:txBody>
                  <a:tcPr marL="6350" marR="6350" marT="6350" marB="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80" b="0" i="0" u="none" strike="noStrik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人醫菲揚，讓愛</a:t>
                      </a:r>
                      <a:r>
                        <a:rPr sz="880" b="0" i="0" u="none" strike="noStrik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飛翔</a:t>
                      </a:r>
                      <a:endParaRPr sz="880" b="0" i="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350" marR="6350" marT="6350" marB="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113101137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莫殷其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醫學系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80" b="0" i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115/07/05</a:t>
                      </a:r>
                      <a:br>
                        <a:rPr sz="880" b="0" i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sz="880" b="0" i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115/07/14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80" b="0" i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</a:t>
                      </a:r>
                      <a:r>
                        <a:rPr sz="880" b="0" i="0" u="none" strike="noStrik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年馬來西亞教育希望共學服務</a:t>
                      </a:r>
                      <a:r>
                        <a:rPr sz="880" b="0" i="0" u="none" strike="noStrik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方案</a:t>
                      </a:r>
                      <a:endParaRPr sz="880" b="0" i="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113110104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陳思彤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藥學系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114/08/12～114/08/19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人醫菲揚，讓愛飛翔-團體海外交流計畫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(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陳宗鷹老師</a:t>
                      </a: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113110104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陳思彤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藥學系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115/06/29～115/07/29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2026慈大楓華-海外華語教育暨服務學習志工團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113110113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邱瀅瑄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藥學系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114/08/12～114/08/19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人醫菲揚，讓愛飛翔-團體海外交流計畫 (陳宗鷹老師)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113110113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邱瀅瑄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藥學系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115/07/07～115/07/17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APPS亞太藥學生年會</a:t>
                      </a: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114105110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卓靖倫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醫放系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115/01/25～115/02/06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慈濟大學2026年【師者育英才．青年行悲智．馬泰傳愛心】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114105110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卓靖倫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醫放系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115/07/08～115/07/27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2026年慈濟大學親善大使築夢服務國際行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2">
            <a:extLst xmlns:a="http://schemas.openxmlformats.org/drawingml/2006/main">
              <a:ext uri="{FF2B5EF4-FFF2-40B4-BE49-F238E27FC236}">
                <a16:creationId xmlns:a16="http://schemas.microsoft.com/office/drawing/2014/main" id="{B3975EEE-E84A-4CAA-8E9C-AE55C8B5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155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6424D"/>
                </a:solidFill>
                <a:latin typeface="Microsoft JhengHei"/>
                <a:ea typeface="Microsoft JhengHei"/>
                <a:cs typeface="Microsoft JhengHei"/>
              </a:rPr>
              <a:t>一年內重複出國學生名單｜詳細紀錄</a:t>
            </a:r>
            <a:endParaRPr sz="2300" b="1">
              <a:solidFill>
                <a:srgbClr val="16424D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57195780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Table 6">
            <a:extLst xmlns:a="http://schemas.openxmlformats.org/drawingml/2006/main">
              <a:ext uri="{FF2B5EF4-FFF2-40B4-BE49-F238E27FC236}">
                <a16:creationId xmlns:a16="http://schemas.microsoft.com/office/drawing/2014/main" id="{7C26D286-21CC-4745-9281-FB95225F333D}"/>
              </a:ext>
            </a:extLst>
          </p:cNvPr>
          <p:cNvGraphicFramePr/>
          <p:nvPr/>
        </p:nvGraphicFramePr>
        <p:xfrm>
          <a:off xmlns:a="http://schemas.openxmlformats.org/drawingml/2006/main" x="438912" y="1091537"/>
          <a:ext xmlns:a="http://schemas.openxmlformats.org/drawingml/2006/main" cx="11292840" cy="202996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41248"/>
                <a:gridCol w="1417320"/>
                <a:gridCol w="1417320"/>
                <a:gridCol w="6473952"/>
              </a:tblGrid>
              <a:tr h="31089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學號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  <a:endParaRPr sz="1000" b="1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系所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活動名稱</a:t>
                      </a:r>
                    </a:p>
                  </a:txBody>
                  <a:tcPr marL="64008" marR="64008" marT="22860" marB="22860" anchor="ctr">
                    <a:solidFill>
                      <a:srgbClr val="2B6F7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113121105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黃星翔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資管系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115/01/15～115/01/24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泰北國際志工服務計畫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113121105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黃星翔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資管系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115/7/1～115/8/14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學海：慈濟基金會日本分會服務實習計畫</a:t>
                      </a:r>
                      <a:endParaRPr sz="86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114121123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蔡振順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資管系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115/01/25～115/02/06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慈濟大學2026年【師者育英才．青年行悲智．馬泰傳愛心】</a:t>
                      </a:r>
                    </a:p>
                  </a:txBody>
                  <a:tcPr marL="54864" marR="54864" marT="22860" marB="22860" anchor="ctr">
                    <a:solidFill>
                      <a:srgbClr val="F6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114121123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蔡振順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資管系</a:t>
                      </a:r>
                      <a:endParaRPr sz="880" b="0">
                        <a:solidFill>
                          <a:srgbClr val="2B373A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8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115/07/08～115/07/27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0">
                          <a:solidFill>
                            <a:srgbClr val="2B37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2026年慈濟大學親善大使築夢服務國際行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2">
            <a:extLst xmlns:a="http://schemas.openxmlformats.org/drawingml/2006/main">
              <a:ext uri="{FF2B5EF4-FFF2-40B4-BE49-F238E27FC236}">
                <a16:creationId xmlns:a16="http://schemas.microsoft.com/office/drawing/2014/main" id="{731389F8-24E3-4510-9499-E29AF5D9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155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9144" rIns="36576" bIns="9144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6424D"/>
                </a:solidFill>
                <a:latin typeface="Microsoft JhengHei"/>
                <a:ea typeface="Microsoft JhengHei"/>
                <a:cs typeface="Microsoft JhengHei"/>
              </a:rPr>
              <a:t>一年內重複出國學生名單｜詳細紀錄</a:t>
            </a:r>
            <a:endParaRPr sz="2300" b="1">
              <a:solidFill>
                <a:srgbClr val="16424D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8419548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2026-10-18T05:26:58.4740000Z</dcterms:created>
  <dcterms:modified xsi:type="dcterms:W3CDTF">2026-10-18T05:26:58.4740000Z</dcterms:modified>
</coreProperties>
</file>